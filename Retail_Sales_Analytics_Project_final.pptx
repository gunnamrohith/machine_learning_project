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5" r:id="rId6"/>
    <p:sldId id="259"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4660"/>
  </p:normalViewPr>
  <p:slideViewPr>
    <p:cSldViewPr snapToGrid="0">
      <p:cViewPr>
        <p:scale>
          <a:sx n="74" d="100"/>
          <a:sy n="74" d="100"/>
        </p:scale>
        <p:origin x="752" y="10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9/21/26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5960" y="296255"/>
            <a:ext cx="9144000" cy="2316702"/>
          </a:xfrm>
        </p:spPr>
        <p:txBody>
          <a:bodyPr/>
          <a:lstStyle/>
          <a:p>
            <a:r>
              <a:rPr lang="en-US" sz="4000" b="1" dirty="0">
                <a:solidFill>
                  <a:srgbClr val="C00000"/>
                </a:solidFill>
                <a:latin typeface="+mn-lt"/>
              </a:rPr>
              <a:t>MACHINE LEARNING</a:t>
            </a:r>
            <a:r>
              <a:rPr sz="4000" b="1" dirty="0">
                <a:solidFill>
                  <a:srgbClr val="C00000"/>
                </a:solidFill>
                <a:latin typeface="+mn-lt"/>
              </a:rPr>
              <a:t>  (25</a:t>
            </a:r>
            <a:r>
              <a:rPr lang="en-US" sz="4000" b="1" dirty="0">
                <a:solidFill>
                  <a:srgbClr val="C00000"/>
                </a:solidFill>
                <a:latin typeface="+mn-lt"/>
              </a:rPr>
              <a:t>SC2107E</a:t>
            </a:r>
            <a:r>
              <a:rPr sz="4000" b="1" dirty="0">
                <a:solidFill>
                  <a:srgbClr val="C00000"/>
                </a:solidFill>
                <a:latin typeface="+mn-lt"/>
              </a:rPr>
              <a:t>)</a:t>
            </a:r>
            <a:br>
              <a:rPr lang="en-US" sz="4000" b="1" dirty="0">
                <a:solidFill>
                  <a:srgbClr val="C00000"/>
                </a:solidFill>
                <a:latin typeface="+mn-lt"/>
              </a:rPr>
            </a:br>
            <a:br>
              <a:rPr lang="en-IN" sz="4000" b="1" dirty="0">
                <a:solidFill>
                  <a:srgbClr val="C00000"/>
                </a:solidFill>
                <a:latin typeface="+mn-lt"/>
              </a:rPr>
            </a:br>
            <a:endParaRPr sz="4000" b="1" dirty="0">
              <a:solidFill>
                <a:srgbClr val="C00000"/>
              </a:solidFill>
              <a:latin typeface="+mn-lt"/>
            </a:endParaRPr>
          </a:p>
          <a:p>
            <a:r>
              <a:rPr sz="4000" b="1" dirty="0">
                <a:solidFill>
                  <a:srgbClr val="002060"/>
                </a:solidFill>
                <a:latin typeface="+mn-lt"/>
              </a:rPr>
              <a:t>Retail Sales Analytics Dashboard</a:t>
            </a:r>
          </a:p>
        </p:txBody>
      </p:sp>
      <p:sp>
        <p:nvSpPr>
          <p:cNvPr id="3" name="Subtitle 2"/>
          <p:cNvSpPr>
            <a:spLocks noGrp="1"/>
          </p:cNvSpPr>
          <p:nvPr>
            <p:ph type="subTitle" idx="1"/>
          </p:nvPr>
        </p:nvSpPr>
        <p:spPr>
          <a:xfrm>
            <a:off x="1303020" y="3232288"/>
            <a:ext cx="10218420" cy="1396014"/>
          </a:xfrm>
        </p:spPr>
        <p:txBody>
          <a:bodyPr/>
          <a:lstStyle/>
          <a:p>
            <a:r>
              <a:rPr sz="3200" b="1" dirty="0">
                <a:solidFill>
                  <a:srgbClr val="000000"/>
                </a:solidFill>
                <a:latin typeface="Times New Roman"/>
              </a:rPr>
              <a:t>Team Members</a:t>
            </a:r>
          </a:p>
          <a:p>
            <a:r>
              <a:rPr sz="2800" b="1" dirty="0">
                <a:solidFill>
                  <a:srgbClr val="000000"/>
                </a:solidFill>
                <a:latin typeface="Times New Roman"/>
              </a:rPr>
              <a:t>Name: </a:t>
            </a:r>
            <a:r>
              <a:rPr lang="en-US" sz="2800" dirty="0">
                <a:solidFill>
                  <a:srgbClr val="000000"/>
                </a:solidFill>
                <a:latin typeface="Times New Roman"/>
              </a:rPr>
              <a:t>P.ANUDEEP </a:t>
            </a:r>
            <a:r>
              <a:rPr sz="2800" dirty="0">
                <a:solidFill>
                  <a:srgbClr val="000000"/>
                </a:solidFill>
                <a:latin typeface="Times New Roman"/>
              </a:rPr>
              <a:t>  </a:t>
            </a:r>
            <a:r>
              <a:rPr sz="2800" b="1" dirty="0">
                <a:solidFill>
                  <a:srgbClr val="000000"/>
                </a:solidFill>
                <a:latin typeface="Times New Roman"/>
              </a:rPr>
              <a:t>Roll No</a:t>
            </a:r>
            <a:r>
              <a:rPr lang="en-US" sz="2800" b="1" dirty="0">
                <a:solidFill>
                  <a:srgbClr val="000000"/>
                </a:solidFill>
                <a:latin typeface="Times New Roman"/>
              </a:rPr>
              <a:t>: </a:t>
            </a:r>
            <a:r>
              <a:rPr lang="en-US" sz="2800" dirty="0">
                <a:solidFill>
                  <a:srgbClr val="000000"/>
                </a:solidFill>
                <a:latin typeface="Times New Roman"/>
              </a:rPr>
              <a:t>2520030087</a:t>
            </a:r>
            <a:endParaRPr sz="2800" dirty="0">
              <a:solidFill>
                <a:srgbClr val="000000"/>
              </a:solidFill>
              <a:latin typeface="Times New Roman"/>
            </a:endParaRPr>
          </a:p>
          <a:p>
            <a:endParaRPr sz="2800" dirty="0">
              <a:solidFill>
                <a:srgbClr val="000000"/>
              </a:solidFill>
              <a:latin typeface="Times New Roman"/>
            </a:endParaRPr>
          </a:p>
          <a:p>
            <a:endParaRPr lang="en-US" sz="2800" dirty="0">
              <a:solidFill>
                <a:srgbClr val="000000"/>
              </a:solidFill>
              <a:latin typeface="Times New Roman"/>
            </a:endParaRPr>
          </a:p>
          <a:p>
            <a:r>
              <a:rPr sz="2800" dirty="0">
                <a:solidFill>
                  <a:srgbClr val="000000"/>
                </a:solidFill>
                <a:latin typeface="Times New Roman"/>
              </a:rPr>
              <a:t>Under the Esteemed Guidance of</a:t>
            </a:r>
          </a:p>
          <a:p>
            <a:r>
              <a:rPr lang="en-US" sz="2800" dirty="0">
                <a:solidFill>
                  <a:srgbClr val="000000"/>
                </a:solidFill>
                <a:latin typeface="Times New Roman"/>
              </a:rPr>
              <a:t>Dr. Rani </a:t>
            </a:r>
            <a:r>
              <a:rPr lang="en-US" sz="2800" dirty="0" err="1">
                <a:solidFill>
                  <a:srgbClr val="000000"/>
                </a:solidFill>
                <a:latin typeface="Times New Roman"/>
              </a:rPr>
              <a:t>Medidha</a:t>
            </a:r>
            <a:r>
              <a:rPr sz="2800" dirty="0">
                <a:solidFill>
                  <a:srgbClr val="000000"/>
                </a:solidFill>
                <a:latin typeface="Times New Roman"/>
              </a:rPr>
              <a:t>, Faculty, Department of CSE</a:t>
            </a:r>
          </a:p>
        </p:txBody>
      </p:sp>
      <p:sp>
        <p:nvSpPr>
          <p:cNvPr id="5" name="TextBox 4">
            <a:extLst>
              <a:ext uri="{FF2B5EF4-FFF2-40B4-BE49-F238E27FC236}">
                <a16:creationId xmlns:a16="http://schemas.microsoft.com/office/drawing/2014/main" id="{ED605F12-23EB-48CE-8EED-2310ACE6284D}"/>
              </a:ext>
            </a:extLst>
          </p:cNvPr>
          <p:cNvSpPr txBox="1"/>
          <p:nvPr/>
        </p:nvSpPr>
        <p:spPr>
          <a:xfrm>
            <a:off x="3092768" y="4366692"/>
            <a:ext cx="7468552" cy="523220"/>
          </a:xfrm>
          <a:prstGeom prst="rect">
            <a:avLst/>
          </a:prstGeom>
          <a:noFill/>
        </p:spPr>
        <p:txBody>
          <a:bodyPr wrap="square">
            <a:spAutoFit/>
          </a:bodyPr>
          <a:lstStyle/>
          <a:p>
            <a:r>
              <a:rPr lang="en-IN" sz="2800" b="1" dirty="0">
                <a:solidFill>
                  <a:srgbClr val="000000"/>
                </a:solidFill>
                <a:latin typeface="Times New Roman"/>
              </a:rPr>
              <a:t>Name: </a:t>
            </a:r>
            <a:r>
              <a:rPr lang="en-IN" sz="2800" dirty="0">
                <a:solidFill>
                  <a:srgbClr val="000000"/>
                </a:solidFill>
                <a:latin typeface="Times New Roman"/>
              </a:rPr>
              <a:t>G.ROHITH      </a:t>
            </a:r>
            <a:r>
              <a:rPr lang="en-IN" sz="2800" b="1" dirty="0">
                <a:solidFill>
                  <a:srgbClr val="000000"/>
                </a:solidFill>
                <a:latin typeface="Times New Roman"/>
              </a:rPr>
              <a:t>Roll No: </a:t>
            </a:r>
            <a:r>
              <a:rPr lang="en-IN" sz="2800" dirty="0">
                <a:solidFill>
                  <a:srgbClr val="000000"/>
                </a:solidFill>
                <a:latin typeface="Times New Roman"/>
              </a:rPr>
              <a:t>2520030220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361037" cy="4473019"/>
          </a:xfrm>
          <a:prstGeom prst="rect">
            <a:avLst/>
          </a:prstGeom>
          <a:noFill/>
        </p:spPr>
        <p:txBody>
          <a:bodyPr wrap="none" rtlCol="0">
            <a:spAutoFit/>
          </a:bodyPr>
          <a:lstStyle/>
          <a:p>
            <a:pPr algn="l" rtl="0" eaLnBrk="1" fontAlgn="t" latinLnBrk="0" hangingPunct="1">
              <a:lnSpc>
                <a:spcPct val="150000"/>
              </a:lnSpc>
              <a:spcBef>
                <a:spcPts val="0"/>
              </a:spcBef>
              <a:spcAft>
                <a:spcPts val="800"/>
              </a:spcAft>
            </a:pPr>
            <a:r>
              <a:rPr sz="2800" b="0" dirty="0">
                <a:solidFill>
                  <a:srgbClr val="232B35"/>
                </a:solidFill>
                <a:latin typeface="+mn-lt"/>
              </a:rPr>
              <a:t>1   Abstract</a:t>
            </a:r>
          </a:p>
          <a:p>
            <a:pPr>
              <a:spcAft>
                <a:spcPts val="800"/>
              </a:spcAft>
            </a:pPr>
            <a:r>
              <a:rPr sz="2800" b="0" dirty="0">
                <a:solidFill>
                  <a:srgbClr val="232B35"/>
                </a:solidFill>
                <a:latin typeface="+mn-lt"/>
              </a:rPr>
              <a:t>2   Introduction</a:t>
            </a:r>
          </a:p>
          <a:p>
            <a:pPr>
              <a:spcAft>
                <a:spcPts val="800"/>
              </a:spcAft>
            </a:pPr>
            <a:r>
              <a:rPr lang="en-US" sz="2800" b="0" dirty="0">
                <a:solidFill>
                  <a:srgbClr val="232B35"/>
                </a:solidFill>
                <a:latin typeface="+mn-lt"/>
              </a:rPr>
              <a:t>3</a:t>
            </a:r>
            <a:r>
              <a:rPr sz="2800" b="0" dirty="0">
                <a:solidFill>
                  <a:srgbClr val="232B35"/>
                </a:solidFill>
                <a:latin typeface="+mn-lt"/>
              </a:rPr>
              <a:t>   Problem Statement and Objectives</a:t>
            </a:r>
          </a:p>
          <a:p>
            <a:pPr>
              <a:spcAft>
                <a:spcPts val="800"/>
              </a:spcAft>
            </a:pPr>
            <a:r>
              <a:rPr lang="en-US" sz="2800" b="0" dirty="0">
                <a:solidFill>
                  <a:srgbClr val="232B35"/>
                </a:solidFill>
                <a:latin typeface="+mn-lt"/>
              </a:rPr>
              <a:t>4</a:t>
            </a:r>
            <a:r>
              <a:rPr sz="2800" b="0" dirty="0">
                <a:solidFill>
                  <a:srgbClr val="232B35"/>
                </a:solidFill>
                <a:latin typeface="+mn-lt"/>
              </a:rPr>
              <a:t>   Flow Chart</a:t>
            </a:r>
          </a:p>
          <a:p>
            <a:pPr>
              <a:spcAft>
                <a:spcPts val="800"/>
              </a:spcAft>
            </a:pPr>
            <a:r>
              <a:rPr lang="en-US" sz="2800" dirty="0">
                <a:solidFill>
                  <a:srgbClr val="232B35"/>
                </a:solidFill>
              </a:rPr>
              <a:t>5</a:t>
            </a:r>
            <a:r>
              <a:rPr sz="2800" b="0" dirty="0">
                <a:solidFill>
                  <a:srgbClr val="232B35"/>
                </a:solidFill>
                <a:latin typeface="+mn-lt"/>
              </a:rPr>
              <a:t>   Results</a:t>
            </a:r>
          </a:p>
          <a:p>
            <a:pPr>
              <a:spcAft>
                <a:spcPts val="800"/>
              </a:spcAft>
            </a:pPr>
            <a:r>
              <a:rPr lang="en-US" sz="2800" b="0" dirty="0">
                <a:solidFill>
                  <a:srgbClr val="232B35"/>
                </a:solidFill>
                <a:latin typeface="+mn-lt"/>
              </a:rPr>
              <a:t>6</a:t>
            </a:r>
            <a:r>
              <a:rPr sz="2800" b="0" dirty="0">
                <a:solidFill>
                  <a:srgbClr val="232B35"/>
                </a:solidFill>
                <a:latin typeface="+mn-lt"/>
              </a:rPr>
              <a:t>   Hardware and Software Requirements</a:t>
            </a:r>
          </a:p>
          <a:p>
            <a:pPr>
              <a:spcAft>
                <a:spcPts val="800"/>
              </a:spcAft>
            </a:pPr>
            <a:r>
              <a:rPr lang="en-US" sz="2800" b="0" dirty="0">
                <a:solidFill>
                  <a:srgbClr val="232B35"/>
                </a:solidFill>
                <a:latin typeface="+mn-lt"/>
              </a:rPr>
              <a:t>7</a:t>
            </a:r>
            <a:r>
              <a:rPr sz="2800" b="0" dirty="0">
                <a:solidFill>
                  <a:srgbClr val="232B35"/>
                </a:solidFill>
                <a:latin typeface="+mn-lt"/>
              </a:rPr>
              <a:t>   Conclusion</a:t>
            </a:r>
          </a:p>
          <a:p>
            <a:pPr>
              <a:spcAft>
                <a:spcPts val="800"/>
              </a:spcAft>
            </a:pPr>
            <a:r>
              <a:rPr lang="en-US" sz="2800" b="0" dirty="0">
                <a:solidFill>
                  <a:srgbClr val="232B35"/>
                </a:solidFill>
                <a:latin typeface="+mn-lt"/>
              </a:rPr>
              <a:t>8</a:t>
            </a:r>
            <a:r>
              <a:rPr sz="2800" b="0" dirty="0">
                <a:solidFill>
                  <a:srgbClr val="232B35"/>
                </a:solidFill>
                <a:latin typeface="+mn-lt"/>
              </a:rPr>
              <a:t>   Future Scope</a:t>
            </a:r>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Project Card"/>
          <p:cNvSpPr/>
          <p:nvPr/>
        </p:nvSpPr>
        <p:spPr>
          <a:xfrm>
            <a:off x="960120" y="1234440"/>
            <a:ext cx="10287000" cy="443484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oject Accent"/>
          <p:cNvSpPr/>
          <p:nvPr/>
        </p:nvSpPr>
        <p:spPr>
          <a:xfrm>
            <a:off x="960120" y="1234440"/>
            <a:ext cx="73152" cy="443484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ject Content"/>
          <p:cNvSpPr txBox="1"/>
          <p:nvPr/>
        </p:nvSpPr>
        <p:spPr>
          <a:xfrm>
            <a:off x="1161288" y="1353312"/>
            <a:ext cx="993952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PROJECT ABSTRACT</a:t>
            </a:r>
          </a:p>
        </p:txBody>
      </p:sp>
      <p:sp>
        <p:nvSpPr>
          <p:cNvPr id="7" name="Project Content"/>
          <p:cNvSpPr txBox="1"/>
          <p:nvPr/>
        </p:nvSpPr>
        <p:spPr>
          <a:xfrm>
            <a:off x="1161288" y="1746504"/>
            <a:ext cx="9939528" cy="3813048"/>
          </a:xfrm>
          <a:prstGeom prst="rect">
            <a:avLst/>
          </a:prstGeom>
          <a:noFill/>
        </p:spPr>
        <p:txBody>
          <a:bodyPr wrap="square" lIns="128016" tIns="73152" rIns="128016" bIns="73152" anchor="t">
            <a:spAutoFit/>
          </a:bodyPr>
          <a:lstStyle/>
          <a:p>
            <a:pPr algn="l">
              <a:lnSpc>
                <a:spcPct val="105000"/>
              </a:lnSpc>
              <a:spcAft>
                <a:spcPts val="500"/>
              </a:spcAft>
            </a:pPr>
            <a:r>
              <a:rPr sz="1800" b="0">
                <a:solidFill>
                  <a:srgbClr val="232B35"/>
                </a:solidFill>
                <a:latin typeface="+mn-lt"/>
              </a:rPr>
              <a:t>Retail businesses generate large volumes of browsing, cart and purchase data, but raw event logs do not directly support decisions. This project develops an interactive Retail Sales Analytics Dashboard that converts e-commerce behaviour data into clear operational and predictive insights.</a:t>
            </a:r>
          </a:p>
          <a:p>
            <a:pPr algn="l">
              <a:lnSpc>
                <a:spcPct val="105000"/>
              </a:lnSpc>
              <a:spcAft>
                <a:spcPts val="500"/>
              </a:spcAft>
            </a:pPr>
            <a:endParaRPr sz="1800" b="0">
              <a:solidFill>
                <a:srgbClr val="232B35"/>
              </a:solidFill>
              <a:latin typeface="+mn-lt"/>
            </a:endParaRPr>
          </a:p>
          <a:p>
            <a:pPr algn="l">
              <a:lnSpc>
                <a:spcPct val="105000"/>
              </a:lnSpc>
              <a:spcAft>
                <a:spcPts val="500"/>
              </a:spcAft>
            </a:pPr>
            <a:r>
              <a:rPr sz="1800" b="0">
                <a:solidFill>
                  <a:srgbClr val="232B35"/>
                </a:solidFill>
                <a:latin typeface="+mn-lt"/>
              </a:rPr>
              <a:t>The workflow covers data cleaning, feature engineering, exploratory analysis, probability, hypothesis testing, linear regression and binary classification. Pandas and NumPy prepare the data; SciPy and scikit-learn provide statistical and machine-learning methods; Plotly and Streamlit deliver an interactive interface.</a:t>
            </a:r>
          </a:p>
          <a:p>
            <a:pPr algn="l">
              <a:lnSpc>
                <a:spcPct val="105000"/>
              </a:lnSpc>
              <a:spcAft>
                <a:spcPts val="500"/>
              </a:spcAft>
            </a:pPr>
            <a:endParaRPr sz="1800" b="0">
              <a:solidFill>
                <a:srgbClr val="232B35"/>
              </a:solidFill>
              <a:latin typeface="+mn-lt"/>
            </a:endParaRPr>
          </a:p>
          <a:p>
            <a:pPr algn="l">
              <a:lnSpc>
                <a:spcPct val="105000"/>
              </a:lnSpc>
              <a:spcAft>
                <a:spcPts val="500"/>
              </a:spcAft>
            </a:pPr>
            <a:r>
              <a:rPr sz="1800" b="0">
                <a:solidFill>
                  <a:srgbClr val="232B35"/>
                </a:solidFill>
                <a:latin typeface="+mn-lt"/>
              </a:rPr>
              <a:t>The final dashboard summarizes revenue, customers, products and conversion, while also comparing Logistic Regression and Random Forest models for purchase prediction.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Project Content"/>
          <p:cNvSpPr txBox="1"/>
          <p:nvPr/>
        </p:nvSpPr>
        <p:spPr>
          <a:xfrm>
            <a:off x="822960" y="1005840"/>
            <a:ext cx="10607040" cy="502920"/>
          </a:xfrm>
          <a:prstGeom prst="rect">
            <a:avLst/>
          </a:prstGeom>
          <a:noFill/>
        </p:spPr>
        <p:txBody>
          <a:bodyPr wrap="square" lIns="128016" tIns="73152" rIns="128016" bIns="73152" anchor="t">
            <a:spAutoFit/>
          </a:bodyPr>
          <a:lstStyle/>
          <a:p>
            <a:pPr algn="ctr">
              <a:lnSpc>
                <a:spcPct val="105000"/>
              </a:lnSpc>
              <a:spcAft>
                <a:spcPts val="500"/>
              </a:spcAft>
            </a:pPr>
            <a:r>
              <a:rPr sz="2300" b="1">
                <a:solidFill>
                  <a:srgbClr val="44546A"/>
                </a:solidFill>
                <a:latin typeface="+mn-lt"/>
              </a:rPr>
              <a:t>From raw customer events to business decisions</a:t>
            </a:r>
          </a:p>
        </p:txBody>
      </p:sp>
      <p:sp>
        <p:nvSpPr>
          <p:cNvPr id="5" name="Project Step"/>
          <p:cNvSpPr/>
          <p:nvPr/>
        </p:nvSpPr>
        <p:spPr>
          <a:xfrm>
            <a:off x="1261872" y="1847088"/>
            <a:ext cx="640080" cy="640080"/>
          </a:xfrm>
          <a:prstGeom prst="ellipse">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2000" b="1">
                <a:solidFill>
                  <a:srgbClr val="FFFFFF"/>
                </a:solidFill>
                <a:latin typeface="+mn-lt"/>
              </a:rPr>
              <a:t>1</a:t>
            </a:r>
          </a:p>
        </p:txBody>
      </p:sp>
      <p:sp>
        <p:nvSpPr>
          <p:cNvPr id="6" name="Project Content"/>
          <p:cNvSpPr txBox="1"/>
          <p:nvPr/>
        </p:nvSpPr>
        <p:spPr>
          <a:xfrm>
            <a:off x="594360" y="2651760"/>
            <a:ext cx="1975104" cy="347472"/>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4472C4"/>
                </a:solidFill>
                <a:latin typeface="+mn-lt"/>
              </a:rPr>
              <a:t>COLLECT</a:t>
            </a:r>
          </a:p>
        </p:txBody>
      </p:sp>
      <p:sp>
        <p:nvSpPr>
          <p:cNvPr id="7" name="Project Content"/>
          <p:cNvSpPr txBox="1"/>
          <p:nvPr/>
        </p:nvSpPr>
        <p:spPr>
          <a:xfrm>
            <a:off x="594360" y="3063240"/>
            <a:ext cx="1975104" cy="987552"/>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232B35"/>
                </a:solidFill>
                <a:latin typeface="+mn-lt"/>
              </a:rPr>
              <a:t>Views, carts and purchases</a:t>
            </a:r>
          </a:p>
        </p:txBody>
      </p:sp>
      <p:sp>
        <p:nvSpPr>
          <p:cNvPr id="8" name="Project Step"/>
          <p:cNvSpPr/>
          <p:nvPr/>
        </p:nvSpPr>
        <p:spPr>
          <a:xfrm>
            <a:off x="3575303" y="1847088"/>
            <a:ext cx="640080" cy="640080"/>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2000" b="1">
                <a:solidFill>
                  <a:srgbClr val="FFFFFF"/>
                </a:solidFill>
                <a:latin typeface="+mn-lt"/>
              </a:rPr>
              <a:t>2</a:t>
            </a:r>
          </a:p>
        </p:txBody>
      </p:sp>
      <p:sp>
        <p:nvSpPr>
          <p:cNvPr id="9" name="Project Content"/>
          <p:cNvSpPr txBox="1"/>
          <p:nvPr/>
        </p:nvSpPr>
        <p:spPr>
          <a:xfrm>
            <a:off x="2907791" y="2651760"/>
            <a:ext cx="1975104" cy="347472"/>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ED7D31"/>
                </a:solidFill>
                <a:latin typeface="+mn-lt"/>
              </a:rPr>
              <a:t>PREPARE</a:t>
            </a:r>
          </a:p>
        </p:txBody>
      </p:sp>
      <p:sp>
        <p:nvSpPr>
          <p:cNvPr id="10" name="Project Content"/>
          <p:cNvSpPr txBox="1"/>
          <p:nvPr/>
        </p:nvSpPr>
        <p:spPr>
          <a:xfrm>
            <a:off x="2907791" y="3063240"/>
            <a:ext cx="1975104" cy="987552"/>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232B35"/>
                </a:solidFill>
                <a:latin typeface="+mn-lt"/>
              </a:rPr>
              <a:t>Clean and engineer features</a:t>
            </a:r>
          </a:p>
        </p:txBody>
      </p:sp>
      <p:sp>
        <p:nvSpPr>
          <p:cNvPr id="11" name="Project Step"/>
          <p:cNvSpPr/>
          <p:nvPr/>
        </p:nvSpPr>
        <p:spPr>
          <a:xfrm>
            <a:off x="5888736" y="1847088"/>
            <a:ext cx="640080" cy="640080"/>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2000" b="1">
                <a:solidFill>
                  <a:srgbClr val="FFFFFF"/>
                </a:solidFill>
                <a:latin typeface="+mn-lt"/>
              </a:rPr>
              <a:t>3</a:t>
            </a:r>
          </a:p>
        </p:txBody>
      </p:sp>
      <p:sp>
        <p:nvSpPr>
          <p:cNvPr id="12" name="Project Content"/>
          <p:cNvSpPr txBox="1"/>
          <p:nvPr/>
        </p:nvSpPr>
        <p:spPr>
          <a:xfrm>
            <a:off x="5221224" y="2651760"/>
            <a:ext cx="1975104" cy="347472"/>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70AD47"/>
                </a:solidFill>
                <a:latin typeface="+mn-lt"/>
              </a:rPr>
              <a:t>ANALYSE</a:t>
            </a:r>
          </a:p>
        </p:txBody>
      </p:sp>
      <p:sp>
        <p:nvSpPr>
          <p:cNvPr id="13" name="Project Content"/>
          <p:cNvSpPr txBox="1"/>
          <p:nvPr/>
        </p:nvSpPr>
        <p:spPr>
          <a:xfrm>
            <a:off x="5221224" y="3063240"/>
            <a:ext cx="1975104" cy="987552"/>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232B35"/>
                </a:solidFill>
                <a:latin typeface="+mn-lt"/>
              </a:rPr>
              <a:t>KPIs, trends and statistics</a:t>
            </a:r>
          </a:p>
        </p:txBody>
      </p:sp>
      <p:sp>
        <p:nvSpPr>
          <p:cNvPr id="14" name="Project Step"/>
          <p:cNvSpPr/>
          <p:nvPr/>
        </p:nvSpPr>
        <p:spPr>
          <a:xfrm>
            <a:off x="8202168" y="1847088"/>
            <a:ext cx="640080" cy="640080"/>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2000" b="1">
                <a:solidFill>
                  <a:srgbClr val="FFFFFF"/>
                </a:solidFill>
                <a:latin typeface="+mn-lt"/>
              </a:rPr>
              <a:t>4</a:t>
            </a:r>
          </a:p>
        </p:txBody>
      </p:sp>
      <p:sp>
        <p:nvSpPr>
          <p:cNvPr id="15" name="Project Content"/>
          <p:cNvSpPr txBox="1"/>
          <p:nvPr/>
        </p:nvSpPr>
        <p:spPr>
          <a:xfrm>
            <a:off x="7534656" y="2651760"/>
            <a:ext cx="1975104" cy="347472"/>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FFC000"/>
                </a:solidFill>
                <a:latin typeface="+mn-lt"/>
              </a:rPr>
              <a:t>PREDICT</a:t>
            </a:r>
          </a:p>
        </p:txBody>
      </p:sp>
      <p:sp>
        <p:nvSpPr>
          <p:cNvPr id="16" name="Project Content"/>
          <p:cNvSpPr txBox="1"/>
          <p:nvPr/>
        </p:nvSpPr>
        <p:spPr>
          <a:xfrm>
            <a:off x="7534656" y="3063240"/>
            <a:ext cx="1975104" cy="987552"/>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232B35"/>
                </a:solidFill>
                <a:latin typeface="+mn-lt"/>
              </a:rPr>
              <a:t>Revenue and purchase likelihood</a:t>
            </a:r>
          </a:p>
        </p:txBody>
      </p:sp>
      <p:sp>
        <p:nvSpPr>
          <p:cNvPr id="17" name="Project Step"/>
          <p:cNvSpPr/>
          <p:nvPr/>
        </p:nvSpPr>
        <p:spPr>
          <a:xfrm>
            <a:off x="10515600" y="1847088"/>
            <a:ext cx="640080" cy="640080"/>
          </a:xfrm>
          <a:prstGeom prst="ellipse">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2000" b="1">
                <a:solidFill>
                  <a:srgbClr val="FFFFFF"/>
                </a:solidFill>
                <a:latin typeface="+mn-lt"/>
              </a:rPr>
              <a:t>5</a:t>
            </a:r>
          </a:p>
        </p:txBody>
      </p:sp>
      <p:sp>
        <p:nvSpPr>
          <p:cNvPr id="18" name="Project Content"/>
          <p:cNvSpPr txBox="1"/>
          <p:nvPr/>
        </p:nvSpPr>
        <p:spPr>
          <a:xfrm>
            <a:off x="9848088" y="2651760"/>
            <a:ext cx="1975104" cy="347472"/>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44546A"/>
                </a:solidFill>
                <a:latin typeface="+mn-lt"/>
              </a:rPr>
              <a:t>PRESENT</a:t>
            </a:r>
          </a:p>
        </p:txBody>
      </p:sp>
      <p:sp>
        <p:nvSpPr>
          <p:cNvPr id="19" name="Project Content"/>
          <p:cNvSpPr txBox="1"/>
          <p:nvPr/>
        </p:nvSpPr>
        <p:spPr>
          <a:xfrm>
            <a:off x="9848088" y="3063240"/>
            <a:ext cx="1975104" cy="987552"/>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232B35"/>
                </a:solidFill>
                <a:latin typeface="+mn-lt"/>
              </a:rPr>
              <a:t>Interactive Streamlit dashboard</a:t>
            </a:r>
          </a:p>
        </p:txBody>
      </p:sp>
      <p:sp>
        <p:nvSpPr>
          <p:cNvPr id="20" name="Project Card"/>
          <p:cNvSpPr/>
          <p:nvPr/>
        </p:nvSpPr>
        <p:spPr>
          <a:xfrm>
            <a:off x="1325880" y="4709160"/>
            <a:ext cx="9555480" cy="123444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roject Accent"/>
          <p:cNvSpPr/>
          <p:nvPr/>
        </p:nvSpPr>
        <p:spPr>
          <a:xfrm>
            <a:off x="1325880" y="4709160"/>
            <a:ext cx="73152" cy="100584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oject Content"/>
          <p:cNvSpPr txBox="1"/>
          <p:nvPr/>
        </p:nvSpPr>
        <p:spPr>
          <a:xfrm>
            <a:off x="1527048" y="4828032"/>
            <a:ext cx="9208007"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WHY IT MATTERS</a:t>
            </a:r>
          </a:p>
        </p:txBody>
      </p:sp>
      <p:sp>
        <p:nvSpPr>
          <p:cNvPr id="23" name="Project Content"/>
          <p:cNvSpPr txBox="1"/>
          <p:nvPr/>
        </p:nvSpPr>
        <p:spPr>
          <a:xfrm>
            <a:off x="1527048" y="5221224"/>
            <a:ext cx="9208007" cy="384048"/>
          </a:xfrm>
          <a:prstGeom prst="rect">
            <a:avLst/>
          </a:prstGeom>
          <a:noFill/>
        </p:spPr>
        <p:txBody>
          <a:bodyPr wrap="square" lIns="128016" tIns="73152" rIns="128016" bIns="73152" anchor="t">
            <a:spAutoFit/>
          </a:bodyPr>
          <a:lstStyle/>
          <a:p>
            <a:pPr algn="l">
              <a:lnSpc>
                <a:spcPct val="105000"/>
              </a:lnSpc>
              <a:spcAft>
                <a:spcPts val="500"/>
              </a:spcAft>
            </a:pPr>
            <a:r>
              <a:rPr sz="1500" b="0" dirty="0">
                <a:solidFill>
                  <a:srgbClr val="232B35"/>
                </a:solidFill>
                <a:latin typeface="+mn-lt"/>
              </a:rPr>
              <a:t>The dashboard helps identify peak periods, valuable customers, strong categories and conversion bottlenecks for better inventory and marketing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Project Card"/>
          <p:cNvSpPr/>
          <p:nvPr/>
        </p:nvSpPr>
        <p:spPr>
          <a:xfrm>
            <a:off x="685800" y="1097280"/>
            <a:ext cx="5257800" cy="452628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oject Accent"/>
          <p:cNvSpPr/>
          <p:nvPr/>
        </p:nvSpPr>
        <p:spPr>
          <a:xfrm>
            <a:off x="685800" y="1097280"/>
            <a:ext cx="73152" cy="45262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ject Content"/>
          <p:cNvSpPr txBox="1"/>
          <p:nvPr/>
        </p:nvSpPr>
        <p:spPr>
          <a:xfrm>
            <a:off x="886968" y="1216152"/>
            <a:ext cx="491032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PROBLEM STATEMENT</a:t>
            </a:r>
          </a:p>
        </p:txBody>
      </p:sp>
      <p:sp>
        <p:nvSpPr>
          <p:cNvPr id="7" name="Project Content"/>
          <p:cNvSpPr txBox="1"/>
          <p:nvPr/>
        </p:nvSpPr>
        <p:spPr>
          <a:xfrm>
            <a:off x="886968" y="1609344"/>
            <a:ext cx="4910328" cy="3904488"/>
          </a:xfrm>
          <a:prstGeom prst="rect">
            <a:avLst/>
          </a:prstGeom>
          <a:noFill/>
        </p:spPr>
        <p:txBody>
          <a:bodyPr wrap="square" lIns="128016" tIns="73152" rIns="128016" bIns="73152" anchor="t">
            <a:spAutoFit/>
          </a:bodyPr>
          <a:lstStyle/>
          <a:p>
            <a:pPr algn="l">
              <a:lnSpc>
                <a:spcPct val="105000"/>
              </a:lnSpc>
              <a:spcAft>
                <a:spcPts val="500"/>
              </a:spcAft>
            </a:pPr>
            <a:r>
              <a:rPr sz="1700" b="0">
                <a:solidFill>
                  <a:srgbClr val="232B35"/>
                </a:solidFill>
                <a:latin typeface="+mn-lt"/>
              </a:rPr>
              <a:t>Raw e-commerce event data contains missing values, duplicates, timestamps, high-cardinality identifiers and mixed customer actions. Retail teams need a reliable way to transform these records into measurable insights and estimate whether an interaction is likely to end in a purchase.</a:t>
            </a:r>
          </a:p>
          <a:p>
            <a:pPr algn="l">
              <a:lnSpc>
                <a:spcPct val="105000"/>
              </a:lnSpc>
              <a:spcAft>
                <a:spcPts val="500"/>
              </a:spcAft>
            </a:pPr>
            <a:endParaRPr sz="1700" b="0">
              <a:solidFill>
                <a:srgbClr val="232B35"/>
              </a:solidFill>
              <a:latin typeface="+mn-lt"/>
            </a:endParaRPr>
          </a:p>
          <a:p>
            <a:pPr algn="l">
              <a:lnSpc>
                <a:spcPct val="105000"/>
              </a:lnSpc>
              <a:spcAft>
                <a:spcPts val="500"/>
              </a:spcAft>
            </a:pPr>
            <a:r>
              <a:rPr sz="1700" b="0">
                <a:solidFill>
                  <a:srgbClr val="232B35"/>
                </a:solidFill>
                <a:latin typeface="+mn-lt"/>
              </a:rPr>
              <a:t>The solution must be understandable, reproducible and accessible through an interactive dashboard.</a:t>
            </a:r>
          </a:p>
        </p:txBody>
      </p:sp>
      <p:sp>
        <p:nvSpPr>
          <p:cNvPr id="8" name="Project Card"/>
          <p:cNvSpPr/>
          <p:nvPr/>
        </p:nvSpPr>
        <p:spPr>
          <a:xfrm>
            <a:off x="6217920" y="1097280"/>
            <a:ext cx="5257800" cy="452628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ject Accent"/>
          <p:cNvSpPr/>
          <p:nvPr/>
        </p:nvSpPr>
        <p:spPr>
          <a:xfrm>
            <a:off x="6217920" y="1097280"/>
            <a:ext cx="73152" cy="4526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oject Content"/>
          <p:cNvSpPr txBox="1"/>
          <p:nvPr/>
        </p:nvSpPr>
        <p:spPr>
          <a:xfrm>
            <a:off x="6419088" y="1216152"/>
            <a:ext cx="491032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PROJECT OBJECTIVES</a:t>
            </a:r>
          </a:p>
        </p:txBody>
      </p:sp>
      <p:sp>
        <p:nvSpPr>
          <p:cNvPr id="11" name="Project Content"/>
          <p:cNvSpPr txBox="1"/>
          <p:nvPr/>
        </p:nvSpPr>
        <p:spPr>
          <a:xfrm>
            <a:off x="6419088" y="1609344"/>
            <a:ext cx="4910328" cy="3904488"/>
          </a:xfrm>
          <a:prstGeom prst="rect">
            <a:avLst/>
          </a:prstGeom>
          <a:noFill/>
        </p:spPr>
        <p:txBody>
          <a:bodyPr wrap="square" lIns="128016" tIns="73152" rIns="128016" bIns="73152" anchor="t">
            <a:spAutoFit/>
          </a:bodyPr>
          <a:lstStyle/>
          <a:p>
            <a:pPr algn="l">
              <a:lnSpc>
                <a:spcPct val="105000"/>
              </a:lnSpc>
              <a:spcAft>
                <a:spcPts val="500"/>
              </a:spcAft>
            </a:pPr>
            <a:r>
              <a:rPr sz="1600" b="0">
                <a:solidFill>
                  <a:srgbClr val="232B35"/>
                </a:solidFill>
                <a:latin typeface="+mn-lt"/>
              </a:rPr>
              <a:t>- Build a repeatable cleaning pipeline</a:t>
            </a:r>
          </a:p>
          <a:p>
            <a:pPr algn="l">
              <a:lnSpc>
                <a:spcPct val="105000"/>
              </a:lnSpc>
              <a:spcAft>
                <a:spcPts val="500"/>
              </a:spcAft>
            </a:pPr>
            <a:r>
              <a:rPr sz="1600" b="0">
                <a:solidFill>
                  <a:srgbClr val="232B35"/>
                </a:solidFill>
                <a:latin typeface="+mn-lt"/>
              </a:rPr>
              <a:t>- Engineer time, category and revenue features</a:t>
            </a:r>
          </a:p>
          <a:p>
            <a:pPr algn="l">
              <a:lnSpc>
                <a:spcPct val="105000"/>
              </a:lnSpc>
              <a:spcAft>
                <a:spcPts val="500"/>
              </a:spcAft>
            </a:pPr>
            <a:r>
              <a:rPr sz="1600" b="0">
                <a:solidFill>
                  <a:srgbClr val="232B35"/>
                </a:solidFill>
                <a:latin typeface="+mn-lt"/>
              </a:rPr>
              <a:t>- Track sales, customer and product KPIs</a:t>
            </a:r>
          </a:p>
          <a:p>
            <a:pPr algn="l">
              <a:lnSpc>
                <a:spcPct val="105000"/>
              </a:lnSpc>
              <a:spcAft>
                <a:spcPts val="500"/>
              </a:spcAft>
            </a:pPr>
            <a:r>
              <a:rPr sz="1600" b="0">
                <a:solidFill>
                  <a:srgbClr val="232B35"/>
                </a:solidFill>
                <a:latin typeface="+mn-lt"/>
              </a:rPr>
              <a:t>- Compute probabilities and confidence intervals</a:t>
            </a:r>
          </a:p>
          <a:p>
            <a:pPr algn="l">
              <a:lnSpc>
                <a:spcPct val="105000"/>
              </a:lnSpc>
              <a:spcAft>
                <a:spcPts val="500"/>
              </a:spcAft>
            </a:pPr>
            <a:r>
              <a:rPr sz="1600" b="0">
                <a:solidFill>
                  <a:srgbClr val="232B35"/>
                </a:solidFill>
                <a:latin typeface="+mn-lt"/>
              </a:rPr>
              <a:t>- Test weekend and weekday behaviour</a:t>
            </a:r>
          </a:p>
          <a:p>
            <a:pPr algn="l">
              <a:lnSpc>
                <a:spcPct val="105000"/>
              </a:lnSpc>
              <a:spcAft>
                <a:spcPts val="500"/>
              </a:spcAft>
            </a:pPr>
            <a:r>
              <a:rPr sz="1600" b="0">
                <a:solidFill>
                  <a:srgbClr val="232B35"/>
                </a:solidFill>
                <a:latin typeface="+mn-lt"/>
              </a:rPr>
              <a:t>- Train regression and classification models</a:t>
            </a:r>
          </a:p>
          <a:p>
            <a:pPr algn="l">
              <a:lnSpc>
                <a:spcPct val="105000"/>
              </a:lnSpc>
              <a:spcAft>
                <a:spcPts val="500"/>
              </a:spcAft>
            </a:pPr>
            <a:r>
              <a:rPr sz="1600" b="0">
                <a:solidFill>
                  <a:srgbClr val="232B35"/>
                </a:solidFill>
                <a:latin typeface="+mn-lt"/>
              </a:rPr>
              <a:t>- Present results through Streamlit and Plotly</a:t>
            </a:r>
          </a:p>
        </p:txBody>
      </p:sp>
    </p:spTree>
    <p:extLst>
      <p:ext uri="{BB962C8B-B14F-4D97-AF65-F5344CB8AC3E}">
        <p14:creationId xmlns:p14="http://schemas.microsoft.com/office/powerpoint/2010/main" val="344102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4" name="Project Flow Step"/>
          <p:cNvSpPr/>
          <p:nvPr/>
        </p:nvSpPr>
        <p:spPr>
          <a:xfrm>
            <a:off x="548640" y="1417320"/>
            <a:ext cx="1965960" cy="111556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RAW CSV</a:t>
            </a:r>
          </a:p>
          <a:p>
            <a:pPr algn="ctr">
              <a:lnSpc>
                <a:spcPct val="105000"/>
              </a:lnSpc>
              <a:spcAft>
                <a:spcPts val="500"/>
              </a:spcAft>
            </a:pPr>
            <a:r>
              <a:rPr sz="1400" b="1">
                <a:solidFill>
                  <a:srgbClr val="FFFFFF"/>
                </a:solidFill>
                <a:latin typeface="+mn-lt"/>
              </a:rPr>
              <a:t>event logs</a:t>
            </a:r>
          </a:p>
        </p:txBody>
      </p:sp>
      <p:sp>
        <p:nvSpPr>
          <p:cNvPr id="5" name="Project Flow Step"/>
          <p:cNvSpPr/>
          <p:nvPr/>
        </p:nvSpPr>
        <p:spPr>
          <a:xfrm>
            <a:off x="2971800" y="1417320"/>
            <a:ext cx="1965960" cy="1115568"/>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dirty="0">
                <a:solidFill>
                  <a:srgbClr val="FFFFFF"/>
                </a:solidFill>
                <a:latin typeface="+mn-lt"/>
              </a:rPr>
              <a:t>CLEANING</a:t>
            </a:r>
          </a:p>
          <a:p>
            <a:pPr algn="ctr">
              <a:lnSpc>
                <a:spcPct val="105000"/>
              </a:lnSpc>
              <a:spcAft>
                <a:spcPts val="500"/>
              </a:spcAft>
            </a:pPr>
            <a:r>
              <a:rPr sz="1400" b="1" dirty="0">
                <a:solidFill>
                  <a:srgbClr val="FFFFFF"/>
                </a:solidFill>
                <a:latin typeface="+mn-lt"/>
              </a:rPr>
              <a:t>nulls + duplicates</a:t>
            </a:r>
          </a:p>
        </p:txBody>
      </p:sp>
      <p:sp>
        <p:nvSpPr>
          <p:cNvPr id="6" name="Project Flow Step"/>
          <p:cNvSpPr/>
          <p:nvPr/>
        </p:nvSpPr>
        <p:spPr>
          <a:xfrm>
            <a:off x="5394960" y="1417320"/>
            <a:ext cx="1965960" cy="1115568"/>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FEATURES</a:t>
            </a:r>
          </a:p>
          <a:p>
            <a:pPr algn="ctr">
              <a:lnSpc>
                <a:spcPct val="105000"/>
              </a:lnSpc>
              <a:spcAft>
                <a:spcPts val="500"/>
              </a:spcAft>
            </a:pPr>
            <a:r>
              <a:rPr sz="1400" b="1">
                <a:solidFill>
                  <a:srgbClr val="FFFFFF"/>
                </a:solidFill>
                <a:latin typeface="+mn-lt"/>
              </a:rPr>
              <a:t>time + revenue</a:t>
            </a:r>
          </a:p>
        </p:txBody>
      </p:sp>
      <p:sp>
        <p:nvSpPr>
          <p:cNvPr id="7" name="Project Flow Step"/>
          <p:cNvSpPr/>
          <p:nvPr/>
        </p:nvSpPr>
        <p:spPr>
          <a:xfrm>
            <a:off x="7818120" y="1417320"/>
            <a:ext cx="1965960" cy="1115568"/>
          </a:xfrm>
          <a:prstGeom prst="round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EDA</a:t>
            </a:r>
          </a:p>
          <a:p>
            <a:pPr algn="ctr">
              <a:lnSpc>
                <a:spcPct val="105000"/>
              </a:lnSpc>
              <a:spcAft>
                <a:spcPts val="500"/>
              </a:spcAft>
            </a:pPr>
            <a:r>
              <a:rPr sz="1400" b="1">
                <a:solidFill>
                  <a:srgbClr val="FFFFFF"/>
                </a:solidFill>
                <a:latin typeface="+mn-lt"/>
              </a:rPr>
              <a:t>KPIs + trends</a:t>
            </a:r>
          </a:p>
        </p:txBody>
      </p:sp>
      <p:sp>
        <p:nvSpPr>
          <p:cNvPr id="8" name="Project Flow Step"/>
          <p:cNvSpPr/>
          <p:nvPr/>
        </p:nvSpPr>
        <p:spPr>
          <a:xfrm>
            <a:off x="7818120" y="4069080"/>
            <a:ext cx="1965960" cy="1115568"/>
          </a:xfrm>
          <a:prstGeom prst="round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STATISTICS</a:t>
            </a:r>
          </a:p>
          <a:p>
            <a:pPr algn="ctr">
              <a:lnSpc>
                <a:spcPct val="105000"/>
              </a:lnSpc>
              <a:spcAft>
                <a:spcPts val="500"/>
              </a:spcAft>
            </a:pPr>
            <a:r>
              <a:rPr sz="1400" b="1">
                <a:solidFill>
                  <a:srgbClr val="FFFFFF"/>
                </a:solidFill>
                <a:latin typeface="+mn-lt"/>
              </a:rPr>
              <a:t>probability + tests</a:t>
            </a:r>
          </a:p>
        </p:txBody>
      </p:sp>
      <p:sp>
        <p:nvSpPr>
          <p:cNvPr id="9" name="Project Flow Step"/>
          <p:cNvSpPr/>
          <p:nvPr/>
        </p:nvSpPr>
        <p:spPr>
          <a:xfrm>
            <a:off x="5394960" y="4069080"/>
            <a:ext cx="1965960" cy="111556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MODELS</a:t>
            </a:r>
          </a:p>
          <a:p>
            <a:pPr algn="ctr">
              <a:lnSpc>
                <a:spcPct val="105000"/>
              </a:lnSpc>
              <a:spcAft>
                <a:spcPts val="500"/>
              </a:spcAft>
            </a:pPr>
            <a:r>
              <a:rPr sz="1400" b="1">
                <a:solidFill>
                  <a:srgbClr val="FFFFFF"/>
                </a:solidFill>
                <a:latin typeface="+mn-lt"/>
              </a:rPr>
              <a:t>regression + class.</a:t>
            </a:r>
          </a:p>
        </p:txBody>
      </p:sp>
      <p:sp>
        <p:nvSpPr>
          <p:cNvPr id="10" name="Project Flow Step"/>
          <p:cNvSpPr/>
          <p:nvPr/>
        </p:nvSpPr>
        <p:spPr>
          <a:xfrm>
            <a:off x="2971800" y="4069080"/>
            <a:ext cx="1965960" cy="1115568"/>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400" b="1">
                <a:solidFill>
                  <a:srgbClr val="FFFFFF"/>
                </a:solidFill>
                <a:latin typeface="+mn-lt"/>
              </a:rPr>
              <a:t>DASHBOARD</a:t>
            </a:r>
          </a:p>
          <a:p>
            <a:pPr algn="ctr">
              <a:lnSpc>
                <a:spcPct val="105000"/>
              </a:lnSpc>
              <a:spcAft>
                <a:spcPts val="500"/>
              </a:spcAft>
            </a:pPr>
            <a:r>
              <a:rPr sz="1400" b="1">
                <a:solidFill>
                  <a:srgbClr val="FFFFFF"/>
                </a:solidFill>
                <a:latin typeface="+mn-lt"/>
              </a:rPr>
              <a:t>insights + prediction</a:t>
            </a:r>
          </a:p>
        </p:txBody>
      </p:sp>
      <p:cxnSp>
        <p:nvCxnSpPr>
          <p:cNvPr id="11" name="Project Flow Connector"/>
          <p:cNvCxnSpPr>
            <a:cxnSpLocks/>
            <a:stCxn id="4" idx="3"/>
            <a:endCxn id="5" idx="1"/>
          </p:cNvCxnSpPr>
          <p:nvPr/>
        </p:nvCxnSpPr>
        <p:spPr>
          <a:xfrm>
            <a:off x="2514600" y="1975104"/>
            <a:ext cx="45720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cxnSp>
        <p:nvCxnSpPr>
          <p:cNvPr id="12" name="Project Flow Connector"/>
          <p:cNvCxnSpPr>
            <a:cxnSpLocks/>
            <a:stCxn id="5" idx="3"/>
            <a:endCxn id="6" idx="1"/>
          </p:cNvCxnSpPr>
          <p:nvPr/>
        </p:nvCxnSpPr>
        <p:spPr>
          <a:xfrm>
            <a:off x="4937760" y="1975104"/>
            <a:ext cx="45720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cxnSp>
        <p:nvCxnSpPr>
          <p:cNvPr id="14" name="Project Flow Connector"/>
          <p:cNvCxnSpPr>
            <a:cxnSpLocks/>
            <a:stCxn id="7" idx="2"/>
          </p:cNvCxnSpPr>
          <p:nvPr/>
        </p:nvCxnSpPr>
        <p:spPr>
          <a:xfrm>
            <a:off x="8801100" y="2532888"/>
            <a:ext cx="0" cy="2093976"/>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cxnSp>
        <p:nvCxnSpPr>
          <p:cNvPr id="15" name="Project Flow Connector"/>
          <p:cNvCxnSpPr>
            <a:cxnSpLocks/>
          </p:cNvCxnSpPr>
          <p:nvPr/>
        </p:nvCxnSpPr>
        <p:spPr>
          <a:xfrm flipH="1">
            <a:off x="7360920" y="4610290"/>
            <a:ext cx="144018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cxnSp>
        <p:nvCxnSpPr>
          <p:cNvPr id="16" name="Project Flow Connector"/>
          <p:cNvCxnSpPr>
            <a:cxnSpLocks/>
            <a:stCxn id="9" idx="1"/>
            <a:endCxn id="10" idx="3"/>
          </p:cNvCxnSpPr>
          <p:nvPr/>
        </p:nvCxnSpPr>
        <p:spPr>
          <a:xfrm flipH="1">
            <a:off x="4937760" y="4626864"/>
            <a:ext cx="45720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sp>
        <p:nvSpPr>
          <p:cNvPr id="17" name="Project Content"/>
          <p:cNvSpPr txBox="1"/>
          <p:nvPr/>
        </p:nvSpPr>
        <p:spPr>
          <a:xfrm>
            <a:off x="822960" y="5742432"/>
            <a:ext cx="10561320" cy="365760"/>
          </a:xfrm>
          <a:prstGeom prst="rect">
            <a:avLst/>
          </a:prstGeom>
          <a:noFill/>
        </p:spPr>
        <p:txBody>
          <a:bodyPr wrap="square" lIns="128016" tIns="73152" rIns="128016" bIns="73152" anchor="t">
            <a:spAutoFit/>
          </a:bodyPr>
          <a:lstStyle/>
          <a:p>
            <a:pPr algn="ctr">
              <a:lnSpc>
                <a:spcPct val="105000"/>
              </a:lnSpc>
              <a:spcAft>
                <a:spcPts val="500"/>
              </a:spcAft>
            </a:pPr>
            <a:r>
              <a:rPr sz="1400" b="0">
                <a:solidFill>
                  <a:srgbClr val="5F6976"/>
                </a:solidFill>
                <a:latin typeface="+mn-lt"/>
              </a:rPr>
              <a:t>Model artifacts are saved with joblib and reused by the live prediction interface.</a:t>
            </a:r>
          </a:p>
        </p:txBody>
      </p:sp>
      <p:cxnSp>
        <p:nvCxnSpPr>
          <p:cNvPr id="26" name="Project Flow Connector">
            <a:extLst>
              <a:ext uri="{FF2B5EF4-FFF2-40B4-BE49-F238E27FC236}">
                <a16:creationId xmlns:a16="http://schemas.microsoft.com/office/drawing/2014/main" id="{CDA625EB-7C19-B919-F44B-2DC6CB49AAC7}"/>
              </a:ext>
            </a:extLst>
          </p:cNvPr>
          <p:cNvCxnSpPr>
            <a:cxnSpLocks/>
          </p:cNvCxnSpPr>
          <p:nvPr/>
        </p:nvCxnSpPr>
        <p:spPr>
          <a:xfrm>
            <a:off x="7360920" y="2012551"/>
            <a:ext cx="457200" cy="0"/>
          </a:xfrm>
          <a:prstGeom prst="line">
            <a:avLst/>
          </a:prstGeom>
          <a:ln w="25400">
            <a:solidFill>
              <a:srgbClr val="44546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Project Metric"/>
          <p:cNvSpPr/>
          <p:nvPr/>
        </p:nvSpPr>
        <p:spPr>
          <a:xfrm>
            <a:off x="594360" y="960120"/>
            <a:ext cx="2606040" cy="960120"/>
          </a:xfrm>
          <a:prstGeom prst="roundRect">
            <a:avLst/>
          </a:prstGeom>
          <a:solidFill>
            <a:srgbClr val="F2F4F7"/>
          </a:solidFill>
          <a:ln w="15875">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oject Content"/>
          <p:cNvSpPr txBox="1"/>
          <p:nvPr/>
        </p:nvSpPr>
        <p:spPr>
          <a:xfrm>
            <a:off x="667512" y="1051560"/>
            <a:ext cx="2459736" cy="384048"/>
          </a:xfrm>
          <a:prstGeom prst="rect">
            <a:avLst/>
          </a:prstGeom>
          <a:noFill/>
        </p:spPr>
        <p:txBody>
          <a:bodyPr wrap="square" lIns="128016" tIns="73152" rIns="128016" bIns="73152" anchor="t">
            <a:spAutoFit/>
          </a:bodyPr>
          <a:lstStyle/>
          <a:p>
            <a:pPr algn="ctr">
              <a:lnSpc>
                <a:spcPct val="105000"/>
              </a:lnSpc>
              <a:spcAft>
                <a:spcPts val="500"/>
              </a:spcAft>
            </a:pPr>
            <a:r>
              <a:rPr sz="2200" b="1">
                <a:solidFill>
                  <a:srgbClr val="4472C4"/>
                </a:solidFill>
                <a:latin typeface="+mn-lt"/>
              </a:rPr>
              <a:t>50,250</a:t>
            </a:r>
          </a:p>
        </p:txBody>
      </p:sp>
      <p:sp>
        <p:nvSpPr>
          <p:cNvPr id="6" name="Project Content"/>
          <p:cNvSpPr txBox="1"/>
          <p:nvPr/>
        </p:nvSpPr>
        <p:spPr>
          <a:xfrm>
            <a:off x="667512" y="1481328"/>
            <a:ext cx="2459736" cy="246888"/>
          </a:xfrm>
          <a:prstGeom prst="rect">
            <a:avLst/>
          </a:prstGeom>
          <a:noFill/>
        </p:spPr>
        <p:txBody>
          <a:bodyPr wrap="square" lIns="128016" tIns="73152" rIns="128016" bIns="73152" anchor="t">
            <a:spAutoFit/>
          </a:bodyPr>
          <a:lstStyle/>
          <a:p>
            <a:pPr algn="ctr">
              <a:lnSpc>
                <a:spcPct val="105000"/>
              </a:lnSpc>
              <a:spcAft>
                <a:spcPts val="500"/>
              </a:spcAft>
            </a:pPr>
            <a:r>
              <a:rPr sz="1100" b="1">
                <a:solidFill>
                  <a:srgbClr val="5F6976"/>
                </a:solidFill>
                <a:latin typeface="+mn-lt"/>
              </a:rPr>
              <a:t>RECORDS</a:t>
            </a:r>
          </a:p>
        </p:txBody>
      </p:sp>
      <p:sp>
        <p:nvSpPr>
          <p:cNvPr id="7" name="Project Metric"/>
          <p:cNvSpPr/>
          <p:nvPr/>
        </p:nvSpPr>
        <p:spPr>
          <a:xfrm>
            <a:off x="3474720" y="960120"/>
            <a:ext cx="2606040" cy="960120"/>
          </a:xfrm>
          <a:prstGeom prst="roundRect">
            <a:avLst/>
          </a:prstGeom>
          <a:solidFill>
            <a:srgbClr val="F2F4F7"/>
          </a:solidFill>
          <a:ln w="15875">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roject Content"/>
          <p:cNvSpPr txBox="1"/>
          <p:nvPr/>
        </p:nvSpPr>
        <p:spPr>
          <a:xfrm>
            <a:off x="3547872" y="1051560"/>
            <a:ext cx="2459736" cy="384048"/>
          </a:xfrm>
          <a:prstGeom prst="rect">
            <a:avLst/>
          </a:prstGeom>
          <a:noFill/>
        </p:spPr>
        <p:txBody>
          <a:bodyPr wrap="square" lIns="128016" tIns="73152" rIns="128016" bIns="73152" anchor="t">
            <a:spAutoFit/>
          </a:bodyPr>
          <a:lstStyle/>
          <a:p>
            <a:pPr algn="ctr">
              <a:lnSpc>
                <a:spcPct val="105000"/>
              </a:lnSpc>
              <a:spcAft>
                <a:spcPts val="500"/>
              </a:spcAft>
            </a:pPr>
            <a:r>
              <a:rPr sz="2200" b="1">
                <a:solidFill>
                  <a:srgbClr val="ED7D31"/>
                </a:solidFill>
                <a:latin typeface="+mn-lt"/>
              </a:rPr>
              <a:t>49,986</a:t>
            </a:r>
          </a:p>
        </p:txBody>
      </p:sp>
      <p:sp>
        <p:nvSpPr>
          <p:cNvPr id="9" name="Project Content"/>
          <p:cNvSpPr txBox="1"/>
          <p:nvPr/>
        </p:nvSpPr>
        <p:spPr>
          <a:xfrm>
            <a:off x="3547872" y="1481328"/>
            <a:ext cx="2459736" cy="246888"/>
          </a:xfrm>
          <a:prstGeom prst="rect">
            <a:avLst/>
          </a:prstGeom>
          <a:noFill/>
        </p:spPr>
        <p:txBody>
          <a:bodyPr wrap="square" lIns="128016" tIns="73152" rIns="128016" bIns="73152" anchor="t">
            <a:spAutoFit/>
          </a:bodyPr>
          <a:lstStyle/>
          <a:p>
            <a:pPr algn="ctr">
              <a:lnSpc>
                <a:spcPct val="105000"/>
              </a:lnSpc>
              <a:spcAft>
                <a:spcPts val="500"/>
              </a:spcAft>
            </a:pPr>
            <a:r>
              <a:rPr sz="1100" b="1">
                <a:solidFill>
                  <a:srgbClr val="5F6976"/>
                </a:solidFill>
                <a:latin typeface="+mn-lt"/>
              </a:rPr>
              <a:t>CUSTOMERS</a:t>
            </a:r>
          </a:p>
        </p:txBody>
      </p:sp>
      <p:sp>
        <p:nvSpPr>
          <p:cNvPr id="10" name="Project Metric"/>
          <p:cNvSpPr/>
          <p:nvPr/>
        </p:nvSpPr>
        <p:spPr>
          <a:xfrm>
            <a:off x="6355080" y="960120"/>
            <a:ext cx="2606040" cy="960120"/>
          </a:xfrm>
          <a:prstGeom prst="roundRect">
            <a:avLst/>
          </a:prstGeom>
          <a:solidFill>
            <a:srgbClr val="F2F4F7"/>
          </a:solidFill>
          <a:ln w="15875">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ject Content"/>
          <p:cNvSpPr txBox="1"/>
          <p:nvPr/>
        </p:nvSpPr>
        <p:spPr>
          <a:xfrm>
            <a:off x="6428232" y="1051560"/>
            <a:ext cx="2459736" cy="384048"/>
          </a:xfrm>
          <a:prstGeom prst="rect">
            <a:avLst/>
          </a:prstGeom>
          <a:noFill/>
        </p:spPr>
        <p:txBody>
          <a:bodyPr wrap="square" lIns="128016" tIns="73152" rIns="128016" bIns="73152" anchor="t">
            <a:spAutoFit/>
          </a:bodyPr>
          <a:lstStyle/>
          <a:p>
            <a:pPr algn="ctr">
              <a:lnSpc>
                <a:spcPct val="105000"/>
              </a:lnSpc>
              <a:spcAft>
                <a:spcPts val="500"/>
              </a:spcAft>
            </a:pPr>
            <a:r>
              <a:rPr sz="2200" b="1">
                <a:solidFill>
                  <a:srgbClr val="70AD47"/>
                </a:solidFill>
                <a:latin typeface="+mn-lt"/>
              </a:rPr>
              <a:t>5,637</a:t>
            </a:r>
          </a:p>
        </p:txBody>
      </p:sp>
      <p:sp>
        <p:nvSpPr>
          <p:cNvPr id="12" name="Project Content"/>
          <p:cNvSpPr txBox="1"/>
          <p:nvPr/>
        </p:nvSpPr>
        <p:spPr>
          <a:xfrm>
            <a:off x="6428232" y="1481328"/>
            <a:ext cx="2459736" cy="246888"/>
          </a:xfrm>
          <a:prstGeom prst="rect">
            <a:avLst/>
          </a:prstGeom>
          <a:noFill/>
        </p:spPr>
        <p:txBody>
          <a:bodyPr wrap="square" lIns="128016" tIns="73152" rIns="128016" bIns="73152" anchor="t">
            <a:spAutoFit/>
          </a:bodyPr>
          <a:lstStyle/>
          <a:p>
            <a:pPr algn="ctr">
              <a:lnSpc>
                <a:spcPct val="105000"/>
              </a:lnSpc>
              <a:spcAft>
                <a:spcPts val="500"/>
              </a:spcAft>
            </a:pPr>
            <a:r>
              <a:rPr sz="1100" b="1">
                <a:solidFill>
                  <a:srgbClr val="5F6976"/>
                </a:solidFill>
                <a:latin typeface="+mn-lt"/>
              </a:rPr>
              <a:t>PURCHASES</a:t>
            </a:r>
          </a:p>
        </p:txBody>
      </p:sp>
      <p:sp>
        <p:nvSpPr>
          <p:cNvPr id="13" name="Project Metric"/>
          <p:cNvSpPr/>
          <p:nvPr/>
        </p:nvSpPr>
        <p:spPr>
          <a:xfrm>
            <a:off x="9235440" y="960120"/>
            <a:ext cx="2606040" cy="960120"/>
          </a:xfrm>
          <a:prstGeom prst="roundRect">
            <a:avLst/>
          </a:prstGeom>
          <a:solidFill>
            <a:srgbClr val="F2F4F7"/>
          </a:solidFill>
          <a:ln w="15875">
            <a:solidFill>
              <a:srgbClr val="445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Content"/>
          <p:cNvSpPr txBox="1"/>
          <p:nvPr/>
        </p:nvSpPr>
        <p:spPr>
          <a:xfrm>
            <a:off x="9308592" y="1051560"/>
            <a:ext cx="2459736" cy="384048"/>
          </a:xfrm>
          <a:prstGeom prst="rect">
            <a:avLst/>
          </a:prstGeom>
          <a:noFill/>
        </p:spPr>
        <p:txBody>
          <a:bodyPr wrap="square" lIns="128016" tIns="73152" rIns="128016" bIns="73152" anchor="t">
            <a:spAutoFit/>
          </a:bodyPr>
          <a:lstStyle/>
          <a:p>
            <a:pPr algn="ctr">
              <a:lnSpc>
                <a:spcPct val="105000"/>
              </a:lnSpc>
              <a:spcAft>
                <a:spcPts val="500"/>
              </a:spcAft>
            </a:pPr>
            <a:r>
              <a:rPr sz="2200" b="1">
                <a:solidFill>
                  <a:srgbClr val="44546A"/>
                </a:solidFill>
                <a:latin typeface="+mn-lt"/>
              </a:rPr>
              <a:t>INR 2,195,035</a:t>
            </a:r>
          </a:p>
        </p:txBody>
      </p:sp>
      <p:sp>
        <p:nvSpPr>
          <p:cNvPr id="15" name="Project Content"/>
          <p:cNvSpPr txBox="1"/>
          <p:nvPr/>
        </p:nvSpPr>
        <p:spPr>
          <a:xfrm>
            <a:off x="9308592" y="1481328"/>
            <a:ext cx="2459736" cy="246888"/>
          </a:xfrm>
          <a:prstGeom prst="rect">
            <a:avLst/>
          </a:prstGeom>
          <a:noFill/>
        </p:spPr>
        <p:txBody>
          <a:bodyPr wrap="square" lIns="128016" tIns="73152" rIns="128016" bIns="73152" anchor="t">
            <a:spAutoFit/>
          </a:bodyPr>
          <a:lstStyle/>
          <a:p>
            <a:pPr algn="ctr">
              <a:lnSpc>
                <a:spcPct val="105000"/>
              </a:lnSpc>
              <a:spcAft>
                <a:spcPts val="500"/>
              </a:spcAft>
            </a:pPr>
            <a:r>
              <a:rPr sz="1100" b="1">
                <a:solidFill>
                  <a:srgbClr val="5F6976"/>
                </a:solidFill>
                <a:latin typeface="+mn-lt"/>
              </a:rPr>
              <a:t>REVENUE</a:t>
            </a:r>
          </a:p>
        </p:txBody>
      </p:sp>
      <p:sp>
        <p:nvSpPr>
          <p:cNvPr id="16" name="Project Label"/>
          <p:cNvSpPr/>
          <p:nvPr/>
        </p:nvSpPr>
        <p:spPr>
          <a:xfrm>
            <a:off x="685800" y="2194560"/>
            <a:ext cx="5166360" cy="384048"/>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FFFFFF"/>
                </a:solidFill>
                <a:latin typeface="+mn-lt"/>
              </a:rPr>
              <a:t>CONVERSION FUNNEL</a:t>
            </a:r>
          </a:p>
        </p:txBody>
      </p:sp>
      <p:sp>
        <p:nvSpPr>
          <p:cNvPr id="17" name="Project Content"/>
          <p:cNvSpPr txBox="1"/>
          <p:nvPr/>
        </p:nvSpPr>
        <p:spPr>
          <a:xfrm>
            <a:off x="749808" y="2770632"/>
            <a:ext cx="1051560" cy="329184"/>
          </a:xfrm>
          <a:prstGeom prst="rect">
            <a:avLst/>
          </a:prstGeom>
          <a:noFill/>
        </p:spPr>
        <p:txBody>
          <a:bodyPr wrap="square" lIns="128016" tIns="73152" rIns="128016" bIns="73152" anchor="t">
            <a:spAutoFit/>
          </a:bodyPr>
          <a:lstStyle/>
          <a:p>
            <a:pPr algn="l">
              <a:lnSpc>
                <a:spcPct val="105000"/>
              </a:lnSpc>
              <a:spcAft>
                <a:spcPts val="500"/>
              </a:spcAft>
            </a:pPr>
            <a:r>
              <a:rPr sz="1300" b="1">
                <a:solidFill>
                  <a:srgbClr val="232B35"/>
                </a:solidFill>
                <a:latin typeface="+mn-lt"/>
              </a:rPr>
              <a:t>Views</a:t>
            </a:r>
          </a:p>
        </p:txBody>
      </p:sp>
      <p:sp>
        <p:nvSpPr>
          <p:cNvPr id="18" name="Project Result Bar"/>
          <p:cNvSpPr/>
          <p:nvPr/>
        </p:nvSpPr>
        <p:spPr>
          <a:xfrm>
            <a:off x="1828800" y="2770632"/>
            <a:ext cx="3291840" cy="329184"/>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roject Content"/>
          <p:cNvSpPr txBox="1"/>
          <p:nvPr/>
        </p:nvSpPr>
        <p:spPr>
          <a:xfrm>
            <a:off x="5212080" y="2761488"/>
            <a:ext cx="960120" cy="329184"/>
          </a:xfrm>
          <a:prstGeom prst="rect">
            <a:avLst/>
          </a:prstGeom>
          <a:noFill/>
        </p:spPr>
        <p:txBody>
          <a:bodyPr wrap="square" lIns="128016" tIns="73152" rIns="128016" bIns="73152" anchor="t">
            <a:spAutoFit/>
          </a:bodyPr>
          <a:lstStyle/>
          <a:p>
            <a:pPr algn="l">
              <a:lnSpc>
                <a:spcPct val="105000"/>
              </a:lnSpc>
              <a:spcAft>
                <a:spcPts val="500"/>
              </a:spcAft>
            </a:pPr>
            <a:r>
              <a:rPr sz="1200" b="1">
                <a:solidFill>
                  <a:srgbClr val="4472C4"/>
                </a:solidFill>
                <a:latin typeface="+mn-lt"/>
              </a:rPr>
              <a:t>33,923</a:t>
            </a:r>
          </a:p>
        </p:txBody>
      </p:sp>
      <p:sp>
        <p:nvSpPr>
          <p:cNvPr id="20" name="Project Content"/>
          <p:cNvSpPr txBox="1"/>
          <p:nvPr/>
        </p:nvSpPr>
        <p:spPr>
          <a:xfrm>
            <a:off x="749808" y="3557015"/>
            <a:ext cx="1051560" cy="329184"/>
          </a:xfrm>
          <a:prstGeom prst="rect">
            <a:avLst/>
          </a:prstGeom>
          <a:noFill/>
        </p:spPr>
        <p:txBody>
          <a:bodyPr wrap="square" lIns="128016" tIns="73152" rIns="128016" bIns="73152" anchor="t">
            <a:spAutoFit/>
          </a:bodyPr>
          <a:lstStyle/>
          <a:p>
            <a:pPr algn="l">
              <a:lnSpc>
                <a:spcPct val="105000"/>
              </a:lnSpc>
              <a:spcAft>
                <a:spcPts val="500"/>
              </a:spcAft>
            </a:pPr>
            <a:r>
              <a:rPr sz="1300" b="1">
                <a:solidFill>
                  <a:srgbClr val="232B35"/>
                </a:solidFill>
                <a:latin typeface="+mn-lt"/>
              </a:rPr>
              <a:t>Cart</a:t>
            </a:r>
          </a:p>
        </p:txBody>
      </p:sp>
      <p:sp>
        <p:nvSpPr>
          <p:cNvPr id="21" name="Project Result Bar"/>
          <p:cNvSpPr/>
          <p:nvPr/>
        </p:nvSpPr>
        <p:spPr>
          <a:xfrm>
            <a:off x="1828800" y="3557015"/>
            <a:ext cx="1037342" cy="32918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oject Content"/>
          <p:cNvSpPr txBox="1"/>
          <p:nvPr/>
        </p:nvSpPr>
        <p:spPr>
          <a:xfrm>
            <a:off x="2957582" y="3547872"/>
            <a:ext cx="960120" cy="329184"/>
          </a:xfrm>
          <a:prstGeom prst="rect">
            <a:avLst/>
          </a:prstGeom>
          <a:noFill/>
        </p:spPr>
        <p:txBody>
          <a:bodyPr wrap="square" lIns="128016" tIns="73152" rIns="128016" bIns="73152" anchor="t">
            <a:spAutoFit/>
          </a:bodyPr>
          <a:lstStyle/>
          <a:p>
            <a:pPr algn="l">
              <a:lnSpc>
                <a:spcPct val="105000"/>
              </a:lnSpc>
              <a:spcAft>
                <a:spcPts val="500"/>
              </a:spcAft>
            </a:pPr>
            <a:r>
              <a:rPr sz="1200" b="1">
                <a:solidFill>
                  <a:srgbClr val="ED7D31"/>
                </a:solidFill>
                <a:latin typeface="+mn-lt"/>
              </a:rPr>
              <a:t>10,690</a:t>
            </a:r>
          </a:p>
        </p:txBody>
      </p:sp>
      <p:sp>
        <p:nvSpPr>
          <p:cNvPr id="23" name="Project Content"/>
          <p:cNvSpPr txBox="1"/>
          <p:nvPr/>
        </p:nvSpPr>
        <p:spPr>
          <a:xfrm>
            <a:off x="749808" y="4343400"/>
            <a:ext cx="1051560" cy="329184"/>
          </a:xfrm>
          <a:prstGeom prst="rect">
            <a:avLst/>
          </a:prstGeom>
          <a:noFill/>
        </p:spPr>
        <p:txBody>
          <a:bodyPr wrap="square" lIns="128016" tIns="73152" rIns="128016" bIns="73152" anchor="t">
            <a:spAutoFit/>
          </a:bodyPr>
          <a:lstStyle/>
          <a:p>
            <a:pPr algn="l">
              <a:lnSpc>
                <a:spcPct val="105000"/>
              </a:lnSpc>
              <a:spcAft>
                <a:spcPts val="500"/>
              </a:spcAft>
            </a:pPr>
            <a:r>
              <a:rPr sz="1300" b="1">
                <a:solidFill>
                  <a:srgbClr val="232B35"/>
                </a:solidFill>
                <a:latin typeface="+mn-lt"/>
              </a:rPr>
              <a:t>Purchases</a:t>
            </a:r>
          </a:p>
        </p:txBody>
      </p:sp>
      <p:sp>
        <p:nvSpPr>
          <p:cNvPr id="24" name="Project Result Bar"/>
          <p:cNvSpPr/>
          <p:nvPr/>
        </p:nvSpPr>
        <p:spPr>
          <a:xfrm>
            <a:off x="1828800" y="4343400"/>
            <a:ext cx="547006" cy="329184"/>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roject Content"/>
          <p:cNvSpPr txBox="1"/>
          <p:nvPr/>
        </p:nvSpPr>
        <p:spPr>
          <a:xfrm>
            <a:off x="2467246" y="4334256"/>
            <a:ext cx="960120" cy="329184"/>
          </a:xfrm>
          <a:prstGeom prst="rect">
            <a:avLst/>
          </a:prstGeom>
          <a:noFill/>
        </p:spPr>
        <p:txBody>
          <a:bodyPr wrap="square" lIns="128016" tIns="73152" rIns="128016" bIns="73152" anchor="t">
            <a:spAutoFit/>
          </a:bodyPr>
          <a:lstStyle/>
          <a:p>
            <a:pPr algn="l">
              <a:lnSpc>
                <a:spcPct val="105000"/>
              </a:lnSpc>
              <a:spcAft>
                <a:spcPts val="500"/>
              </a:spcAft>
            </a:pPr>
            <a:r>
              <a:rPr sz="1200" b="1">
                <a:solidFill>
                  <a:srgbClr val="70AD47"/>
                </a:solidFill>
                <a:latin typeface="+mn-lt"/>
              </a:rPr>
              <a:t>5,637</a:t>
            </a:r>
          </a:p>
        </p:txBody>
      </p:sp>
      <p:sp>
        <p:nvSpPr>
          <p:cNvPr id="26" name="Project Content"/>
          <p:cNvSpPr txBox="1"/>
          <p:nvPr/>
        </p:nvSpPr>
        <p:spPr>
          <a:xfrm>
            <a:off x="749808" y="5285232"/>
            <a:ext cx="4983480" cy="320040"/>
          </a:xfrm>
          <a:prstGeom prst="rect">
            <a:avLst/>
          </a:prstGeom>
          <a:noFill/>
        </p:spPr>
        <p:txBody>
          <a:bodyPr wrap="square" lIns="128016" tIns="73152" rIns="128016" bIns="73152" anchor="t">
            <a:spAutoFit/>
          </a:bodyPr>
          <a:lstStyle/>
          <a:p>
            <a:pPr algn="ctr">
              <a:lnSpc>
                <a:spcPct val="105000"/>
              </a:lnSpc>
              <a:spcAft>
                <a:spcPts val="500"/>
              </a:spcAft>
            </a:pPr>
            <a:r>
              <a:rPr sz="1400" b="1">
                <a:solidFill>
                  <a:srgbClr val="44546A"/>
                </a:solidFill>
                <a:latin typeface="+mn-lt"/>
              </a:rPr>
              <a:t>Purchase conversion rate: 11.2%</a:t>
            </a:r>
          </a:p>
        </p:txBody>
      </p:sp>
      <p:sp>
        <p:nvSpPr>
          <p:cNvPr id="27" name="Project Label"/>
          <p:cNvSpPr/>
          <p:nvPr/>
        </p:nvSpPr>
        <p:spPr>
          <a:xfrm>
            <a:off x="6199632" y="2194560"/>
            <a:ext cx="5166360" cy="384048"/>
          </a:xfrm>
          <a:prstGeom prst="round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FFFFFF"/>
                </a:solidFill>
                <a:latin typeface="+mn-lt"/>
              </a:rPr>
              <a:t>PURCHASE MODEL COMPARISON</a:t>
            </a:r>
          </a:p>
        </p:txBody>
      </p:sp>
      <p:sp>
        <p:nvSpPr>
          <p:cNvPr id="28" name="Project Result Header"/>
          <p:cNvSpPr/>
          <p:nvPr/>
        </p:nvSpPr>
        <p:spPr>
          <a:xfrm>
            <a:off x="6281928" y="2743200"/>
            <a:ext cx="2331720" cy="502920"/>
          </a:xfrm>
          <a:prstGeom prst="rect">
            <a:avLst/>
          </a:prstGeom>
          <a:solidFill>
            <a:srgbClr val="44546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100" b="1">
                <a:solidFill>
                  <a:srgbClr val="FFFFFF"/>
                </a:solidFill>
                <a:latin typeface="+mn-lt"/>
              </a:rPr>
              <a:t>Model</a:t>
            </a:r>
          </a:p>
        </p:txBody>
      </p:sp>
      <p:sp>
        <p:nvSpPr>
          <p:cNvPr id="29" name="Project Result Header"/>
          <p:cNvSpPr/>
          <p:nvPr/>
        </p:nvSpPr>
        <p:spPr>
          <a:xfrm>
            <a:off x="8613648" y="2743200"/>
            <a:ext cx="960120" cy="502920"/>
          </a:xfrm>
          <a:prstGeom prst="rect">
            <a:avLst/>
          </a:prstGeom>
          <a:solidFill>
            <a:srgbClr val="44546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100" b="1">
                <a:solidFill>
                  <a:srgbClr val="FFFFFF"/>
                </a:solidFill>
                <a:latin typeface="+mn-lt"/>
              </a:rPr>
              <a:t>Accuracy</a:t>
            </a:r>
          </a:p>
        </p:txBody>
      </p:sp>
      <p:sp>
        <p:nvSpPr>
          <p:cNvPr id="30" name="Project Result Header"/>
          <p:cNvSpPr/>
          <p:nvPr/>
        </p:nvSpPr>
        <p:spPr>
          <a:xfrm>
            <a:off x="9573768" y="2743200"/>
            <a:ext cx="749808" cy="502920"/>
          </a:xfrm>
          <a:prstGeom prst="rect">
            <a:avLst/>
          </a:prstGeom>
          <a:solidFill>
            <a:srgbClr val="44546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100" b="1">
                <a:solidFill>
                  <a:srgbClr val="FFFFFF"/>
                </a:solidFill>
                <a:latin typeface="+mn-lt"/>
              </a:rPr>
              <a:t>F1</a:t>
            </a:r>
          </a:p>
        </p:txBody>
      </p:sp>
      <p:sp>
        <p:nvSpPr>
          <p:cNvPr id="31" name="Project Result Header"/>
          <p:cNvSpPr/>
          <p:nvPr/>
        </p:nvSpPr>
        <p:spPr>
          <a:xfrm>
            <a:off x="10323576" y="2743200"/>
            <a:ext cx="960120" cy="502920"/>
          </a:xfrm>
          <a:prstGeom prst="rect">
            <a:avLst/>
          </a:prstGeom>
          <a:solidFill>
            <a:srgbClr val="44546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100" b="1">
                <a:solidFill>
                  <a:srgbClr val="FFFFFF"/>
                </a:solidFill>
                <a:latin typeface="+mn-lt"/>
              </a:rPr>
              <a:t>ROC-AUC</a:t>
            </a:r>
          </a:p>
        </p:txBody>
      </p:sp>
      <p:sp>
        <p:nvSpPr>
          <p:cNvPr id="32" name="Project Result Cell"/>
          <p:cNvSpPr/>
          <p:nvPr/>
        </p:nvSpPr>
        <p:spPr>
          <a:xfrm>
            <a:off x="6281928" y="3246120"/>
            <a:ext cx="2331720" cy="658368"/>
          </a:xfrm>
          <a:prstGeom prst="rect">
            <a:avLst/>
          </a:prstGeom>
          <a:solidFill>
            <a:srgbClr val="EBF1F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232B35"/>
                </a:solidFill>
                <a:latin typeface="+mn-lt"/>
              </a:rPr>
              <a:t>Logistic Regression</a:t>
            </a:r>
          </a:p>
        </p:txBody>
      </p:sp>
      <p:sp>
        <p:nvSpPr>
          <p:cNvPr id="33" name="Project Result Cell"/>
          <p:cNvSpPr/>
          <p:nvPr/>
        </p:nvSpPr>
        <p:spPr>
          <a:xfrm>
            <a:off x="8613648" y="3246120"/>
            <a:ext cx="960120" cy="658368"/>
          </a:xfrm>
          <a:prstGeom prst="rect">
            <a:avLst/>
          </a:prstGeom>
          <a:solidFill>
            <a:srgbClr val="EBF1F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232B35"/>
                </a:solidFill>
                <a:latin typeface="+mn-lt"/>
              </a:rPr>
              <a:t>0.505</a:t>
            </a:r>
          </a:p>
        </p:txBody>
      </p:sp>
      <p:sp>
        <p:nvSpPr>
          <p:cNvPr id="34" name="Project Result Cell"/>
          <p:cNvSpPr/>
          <p:nvPr/>
        </p:nvSpPr>
        <p:spPr>
          <a:xfrm>
            <a:off x="9573768" y="3246120"/>
            <a:ext cx="749808" cy="658368"/>
          </a:xfrm>
          <a:prstGeom prst="rect">
            <a:avLst/>
          </a:prstGeom>
          <a:solidFill>
            <a:srgbClr val="EBF1F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232B35"/>
                </a:solidFill>
                <a:latin typeface="+mn-lt"/>
              </a:rPr>
              <a:t>0.174</a:t>
            </a:r>
          </a:p>
        </p:txBody>
      </p:sp>
      <p:sp>
        <p:nvSpPr>
          <p:cNvPr id="35" name="Project Result Cell"/>
          <p:cNvSpPr/>
          <p:nvPr/>
        </p:nvSpPr>
        <p:spPr>
          <a:xfrm>
            <a:off x="10323576" y="3246120"/>
            <a:ext cx="960120" cy="658368"/>
          </a:xfrm>
          <a:prstGeom prst="rect">
            <a:avLst/>
          </a:prstGeom>
          <a:solidFill>
            <a:srgbClr val="EBF1FA"/>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1">
                <a:solidFill>
                  <a:srgbClr val="232B35"/>
                </a:solidFill>
                <a:latin typeface="+mn-lt"/>
              </a:rPr>
              <a:t>0.491</a:t>
            </a:r>
          </a:p>
        </p:txBody>
      </p:sp>
      <p:sp>
        <p:nvSpPr>
          <p:cNvPr id="36" name="Project Result Cell"/>
          <p:cNvSpPr/>
          <p:nvPr/>
        </p:nvSpPr>
        <p:spPr>
          <a:xfrm>
            <a:off x="6281928" y="3904487"/>
            <a:ext cx="2331720" cy="658368"/>
          </a:xfrm>
          <a:prstGeom prst="rect">
            <a:avLst/>
          </a:prstGeom>
          <a:solidFill>
            <a:srgbClr val="F2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0">
                <a:solidFill>
                  <a:srgbClr val="232B35"/>
                </a:solidFill>
                <a:latin typeface="+mn-lt"/>
              </a:rPr>
              <a:t>Random Forest</a:t>
            </a:r>
          </a:p>
        </p:txBody>
      </p:sp>
      <p:sp>
        <p:nvSpPr>
          <p:cNvPr id="37" name="Project Result Cell"/>
          <p:cNvSpPr/>
          <p:nvPr/>
        </p:nvSpPr>
        <p:spPr>
          <a:xfrm>
            <a:off x="8613648" y="3904487"/>
            <a:ext cx="960120" cy="658368"/>
          </a:xfrm>
          <a:prstGeom prst="rect">
            <a:avLst/>
          </a:prstGeom>
          <a:solidFill>
            <a:srgbClr val="F2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0">
                <a:solidFill>
                  <a:srgbClr val="232B35"/>
                </a:solidFill>
                <a:latin typeface="+mn-lt"/>
              </a:rPr>
              <a:t>0.735</a:t>
            </a:r>
          </a:p>
        </p:txBody>
      </p:sp>
      <p:sp>
        <p:nvSpPr>
          <p:cNvPr id="38" name="Project Result Cell"/>
          <p:cNvSpPr/>
          <p:nvPr/>
        </p:nvSpPr>
        <p:spPr>
          <a:xfrm>
            <a:off x="9573768" y="3904487"/>
            <a:ext cx="749808" cy="658368"/>
          </a:xfrm>
          <a:prstGeom prst="rect">
            <a:avLst/>
          </a:prstGeom>
          <a:solidFill>
            <a:srgbClr val="F2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0">
                <a:solidFill>
                  <a:srgbClr val="232B35"/>
                </a:solidFill>
                <a:latin typeface="+mn-lt"/>
              </a:rPr>
              <a:t>0.147</a:t>
            </a:r>
          </a:p>
        </p:txBody>
      </p:sp>
      <p:sp>
        <p:nvSpPr>
          <p:cNvPr id="39" name="Project Result Cell"/>
          <p:cNvSpPr/>
          <p:nvPr/>
        </p:nvSpPr>
        <p:spPr>
          <a:xfrm>
            <a:off x="10323576" y="3904487"/>
            <a:ext cx="960120" cy="658368"/>
          </a:xfrm>
          <a:prstGeom prst="rect">
            <a:avLst/>
          </a:prstGeom>
          <a:solidFill>
            <a:srgbClr val="F2F4F7"/>
          </a:solidFill>
          <a:ln>
            <a:solidFill>
              <a:srgbClr val="FFFFFF"/>
            </a:solidFill>
          </a:ln>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lnSpc>
                <a:spcPct val="105000"/>
              </a:lnSpc>
              <a:spcAft>
                <a:spcPts val="500"/>
              </a:spcAft>
            </a:pPr>
            <a:r>
              <a:rPr sz="1200" b="0">
                <a:solidFill>
                  <a:srgbClr val="232B35"/>
                </a:solidFill>
                <a:latin typeface="+mn-lt"/>
              </a:rPr>
              <a:t>0.496</a:t>
            </a:r>
          </a:p>
        </p:txBody>
      </p:sp>
      <p:sp>
        <p:nvSpPr>
          <p:cNvPr id="40" name="Project Card"/>
          <p:cNvSpPr/>
          <p:nvPr/>
        </p:nvSpPr>
        <p:spPr>
          <a:xfrm>
            <a:off x="6281928" y="4800600"/>
            <a:ext cx="5001768" cy="109728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Project Accent"/>
          <p:cNvSpPr/>
          <p:nvPr/>
        </p:nvSpPr>
        <p:spPr>
          <a:xfrm>
            <a:off x="6281928" y="4800600"/>
            <a:ext cx="73152" cy="941832"/>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Project Content"/>
          <p:cNvSpPr txBox="1"/>
          <p:nvPr/>
        </p:nvSpPr>
        <p:spPr>
          <a:xfrm>
            <a:off x="6483096" y="4919472"/>
            <a:ext cx="465429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INTERPRETATION</a:t>
            </a:r>
          </a:p>
        </p:txBody>
      </p:sp>
      <p:sp>
        <p:nvSpPr>
          <p:cNvPr id="43" name="Project Content"/>
          <p:cNvSpPr txBox="1"/>
          <p:nvPr/>
        </p:nvSpPr>
        <p:spPr>
          <a:xfrm>
            <a:off x="6483096" y="5312664"/>
            <a:ext cx="4654296" cy="320040"/>
          </a:xfrm>
          <a:prstGeom prst="rect">
            <a:avLst/>
          </a:prstGeom>
          <a:noFill/>
        </p:spPr>
        <p:txBody>
          <a:bodyPr wrap="square" lIns="128016" tIns="73152" rIns="128016" bIns="73152" anchor="t">
            <a:spAutoFit/>
          </a:bodyPr>
          <a:lstStyle/>
          <a:p>
            <a:pPr algn="l">
              <a:lnSpc>
                <a:spcPct val="105000"/>
              </a:lnSpc>
              <a:spcAft>
                <a:spcPts val="500"/>
              </a:spcAft>
            </a:pPr>
            <a:r>
              <a:rPr sz="1200" b="0">
                <a:solidFill>
                  <a:srgbClr val="232B35"/>
                </a:solidFill>
                <a:latin typeface="+mn-lt"/>
              </a:rPr>
              <a:t>Logistic Regression leads on F1; ROC-AUC near 0.50 shows that synthetic data contains little predictive signal.</a:t>
            </a:r>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Project Card"/>
          <p:cNvSpPr/>
          <p:nvPr/>
        </p:nvSpPr>
        <p:spPr>
          <a:xfrm>
            <a:off x="777240" y="1143000"/>
            <a:ext cx="5349240" cy="452628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roject Accent"/>
          <p:cNvSpPr/>
          <p:nvPr/>
        </p:nvSpPr>
        <p:spPr>
          <a:xfrm>
            <a:off x="777240" y="1143000"/>
            <a:ext cx="73152" cy="4526280"/>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ject Content"/>
          <p:cNvSpPr txBox="1"/>
          <p:nvPr/>
        </p:nvSpPr>
        <p:spPr>
          <a:xfrm>
            <a:off x="978408" y="1261872"/>
            <a:ext cx="500176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HARDWARE REQUIREMENTS</a:t>
            </a:r>
          </a:p>
        </p:txBody>
      </p:sp>
      <p:sp>
        <p:nvSpPr>
          <p:cNvPr id="7" name="Project Content"/>
          <p:cNvSpPr txBox="1"/>
          <p:nvPr/>
        </p:nvSpPr>
        <p:spPr>
          <a:xfrm>
            <a:off x="978408" y="1655064"/>
            <a:ext cx="5001768" cy="3904488"/>
          </a:xfrm>
          <a:prstGeom prst="rect">
            <a:avLst/>
          </a:prstGeom>
          <a:noFill/>
        </p:spPr>
        <p:txBody>
          <a:bodyPr wrap="square" lIns="128016" tIns="73152" rIns="128016" bIns="73152" anchor="t">
            <a:spAutoFit/>
          </a:bodyPr>
          <a:lstStyle/>
          <a:p>
            <a:pPr algn="l">
              <a:lnSpc>
                <a:spcPct val="105000"/>
              </a:lnSpc>
              <a:spcAft>
                <a:spcPts val="500"/>
              </a:spcAft>
            </a:pPr>
            <a:r>
              <a:rPr sz="1600" b="0">
                <a:solidFill>
                  <a:srgbClr val="232B35"/>
                </a:solidFill>
                <a:latin typeface="+mn-lt"/>
              </a:rPr>
              <a:t>Minimum</a:t>
            </a:r>
          </a:p>
          <a:p>
            <a:pPr algn="l">
              <a:lnSpc>
                <a:spcPct val="105000"/>
              </a:lnSpc>
              <a:spcAft>
                <a:spcPts val="500"/>
              </a:spcAft>
            </a:pPr>
            <a:r>
              <a:rPr sz="1600" b="0">
                <a:solidFill>
                  <a:srgbClr val="232B35"/>
                </a:solidFill>
                <a:latin typeface="+mn-lt"/>
              </a:rPr>
              <a:t>- Dual-core 64-bit processor</a:t>
            </a:r>
          </a:p>
          <a:p>
            <a:pPr algn="l">
              <a:lnSpc>
                <a:spcPct val="105000"/>
              </a:lnSpc>
              <a:spcAft>
                <a:spcPts val="500"/>
              </a:spcAft>
            </a:pPr>
            <a:r>
              <a:rPr sz="1600" b="0">
                <a:solidFill>
                  <a:srgbClr val="232B35"/>
                </a:solidFill>
                <a:latin typeface="+mn-lt"/>
              </a:rPr>
              <a:t>- 4 GB RAM</a:t>
            </a:r>
          </a:p>
          <a:p>
            <a:pPr algn="l">
              <a:lnSpc>
                <a:spcPct val="105000"/>
              </a:lnSpc>
              <a:spcAft>
                <a:spcPts val="500"/>
              </a:spcAft>
            </a:pPr>
            <a:r>
              <a:rPr sz="1600" b="0">
                <a:solidFill>
                  <a:srgbClr val="232B35"/>
                </a:solidFill>
                <a:latin typeface="+mn-lt"/>
              </a:rPr>
              <a:t>- 1 GB free storage</a:t>
            </a:r>
          </a:p>
          <a:p>
            <a:pPr algn="l">
              <a:lnSpc>
                <a:spcPct val="105000"/>
              </a:lnSpc>
              <a:spcAft>
                <a:spcPts val="500"/>
              </a:spcAft>
            </a:pPr>
            <a:r>
              <a:rPr sz="1600" b="0">
                <a:solidFill>
                  <a:srgbClr val="232B35"/>
                </a:solidFill>
                <a:latin typeface="+mn-lt"/>
              </a:rPr>
              <a:t>- 1366 x 768 display</a:t>
            </a:r>
          </a:p>
          <a:p>
            <a:pPr algn="l">
              <a:lnSpc>
                <a:spcPct val="105000"/>
              </a:lnSpc>
              <a:spcAft>
                <a:spcPts val="500"/>
              </a:spcAft>
            </a:pPr>
            <a:endParaRPr sz="1600" b="0">
              <a:solidFill>
                <a:srgbClr val="232B35"/>
              </a:solidFill>
              <a:latin typeface="+mn-lt"/>
            </a:endParaRPr>
          </a:p>
          <a:p>
            <a:pPr algn="l">
              <a:lnSpc>
                <a:spcPct val="105000"/>
              </a:lnSpc>
              <a:spcAft>
                <a:spcPts val="500"/>
              </a:spcAft>
            </a:pPr>
            <a:r>
              <a:rPr sz="1600" b="0">
                <a:solidFill>
                  <a:srgbClr val="232B35"/>
                </a:solidFill>
                <a:latin typeface="+mn-lt"/>
              </a:rPr>
              <a:t>Recommended</a:t>
            </a:r>
          </a:p>
          <a:p>
            <a:pPr algn="l">
              <a:lnSpc>
                <a:spcPct val="105000"/>
              </a:lnSpc>
              <a:spcAft>
                <a:spcPts val="500"/>
              </a:spcAft>
            </a:pPr>
            <a:r>
              <a:rPr sz="1600" b="0">
                <a:solidFill>
                  <a:srgbClr val="232B35"/>
                </a:solidFill>
                <a:latin typeface="+mn-lt"/>
              </a:rPr>
              <a:t>- Quad-core processor</a:t>
            </a:r>
          </a:p>
          <a:p>
            <a:pPr algn="l">
              <a:lnSpc>
                <a:spcPct val="105000"/>
              </a:lnSpc>
              <a:spcAft>
                <a:spcPts val="500"/>
              </a:spcAft>
            </a:pPr>
            <a:r>
              <a:rPr sz="1600" b="0">
                <a:solidFill>
                  <a:srgbClr val="232B35"/>
                </a:solidFill>
                <a:latin typeface="+mn-lt"/>
              </a:rPr>
              <a:t>- 8 GB RAM or higher</a:t>
            </a:r>
          </a:p>
          <a:p>
            <a:pPr algn="l">
              <a:lnSpc>
                <a:spcPct val="105000"/>
              </a:lnSpc>
              <a:spcAft>
                <a:spcPts val="500"/>
              </a:spcAft>
            </a:pPr>
            <a:r>
              <a:rPr sz="1600" b="0">
                <a:solidFill>
                  <a:srgbClr val="232B35"/>
                </a:solidFill>
                <a:latin typeface="+mn-lt"/>
              </a:rPr>
              <a:t>- Stable internet for deployment</a:t>
            </a:r>
          </a:p>
        </p:txBody>
      </p:sp>
      <p:sp>
        <p:nvSpPr>
          <p:cNvPr id="8" name="Project Card"/>
          <p:cNvSpPr/>
          <p:nvPr/>
        </p:nvSpPr>
        <p:spPr>
          <a:xfrm>
            <a:off x="6355080" y="1143000"/>
            <a:ext cx="5074920" cy="4526280"/>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roject Accent"/>
          <p:cNvSpPr/>
          <p:nvPr/>
        </p:nvSpPr>
        <p:spPr>
          <a:xfrm>
            <a:off x="6355080" y="1143000"/>
            <a:ext cx="73152" cy="452628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oject Content"/>
          <p:cNvSpPr txBox="1"/>
          <p:nvPr/>
        </p:nvSpPr>
        <p:spPr>
          <a:xfrm>
            <a:off x="6556248" y="1261872"/>
            <a:ext cx="472744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SOFTWARE REQUIREMENTS</a:t>
            </a:r>
          </a:p>
        </p:txBody>
      </p:sp>
      <p:sp>
        <p:nvSpPr>
          <p:cNvPr id="11" name="Project Content"/>
          <p:cNvSpPr txBox="1"/>
          <p:nvPr/>
        </p:nvSpPr>
        <p:spPr>
          <a:xfrm>
            <a:off x="6556248" y="1655064"/>
            <a:ext cx="4727448" cy="3904488"/>
          </a:xfrm>
          <a:prstGeom prst="rect">
            <a:avLst/>
          </a:prstGeom>
          <a:noFill/>
        </p:spPr>
        <p:txBody>
          <a:bodyPr wrap="square" lIns="128016" tIns="73152" rIns="128016" bIns="73152" anchor="t">
            <a:spAutoFit/>
          </a:bodyPr>
          <a:lstStyle/>
          <a:p>
            <a:pPr algn="l">
              <a:lnSpc>
                <a:spcPct val="105000"/>
              </a:lnSpc>
              <a:spcAft>
                <a:spcPts val="500"/>
              </a:spcAft>
            </a:pPr>
            <a:r>
              <a:rPr sz="1600" b="0">
                <a:solidFill>
                  <a:srgbClr val="232B35"/>
                </a:solidFill>
                <a:latin typeface="+mn-lt"/>
              </a:rPr>
              <a:t>- macOS, Windows or Linux</a:t>
            </a:r>
          </a:p>
          <a:p>
            <a:pPr algn="l">
              <a:lnSpc>
                <a:spcPct val="105000"/>
              </a:lnSpc>
              <a:spcAft>
                <a:spcPts val="500"/>
              </a:spcAft>
            </a:pPr>
            <a:r>
              <a:rPr sz="1600" b="0">
                <a:solidFill>
                  <a:srgbClr val="232B35"/>
                </a:solidFill>
                <a:latin typeface="+mn-lt"/>
              </a:rPr>
              <a:t>- Python 3.9 or later</a:t>
            </a:r>
          </a:p>
          <a:p>
            <a:pPr algn="l">
              <a:lnSpc>
                <a:spcPct val="105000"/>
              </a:lnSpc>
              <a:spcAft>
                <a:spcPts val="500"/>
              </a:spcAft>
            </a:pPr>
            <a:r>
              <a:rPr sz="1600" b="0">
                <a:solidFill>
                  <a:srgbClr val="232B35"/>
                </a:solidFill>
                <a:latin typeface="+mn-lt"/>
              </a:rPr>
              <a:t>- VS Code / Python IDE</a:t>
            </a:r>
          </a:p>
          <a:p>
            <a:pPr algn="l">
              <a:lnSpc>
                <a:spcPct val="105000"/>
              </a:lnSpc>
              <a:spcAft>
                <a:spcPts val="500"/>
              </a:spcAft>
            </a:pPr>
            <a:r>
              <a:rPr sz="1600" b="0">
                <a:solidFill>
                  <a:srgbClr val="232B35"/>
                </a:solidFill>
                <a:latin typeface="+mn-lt"/>
              </a:rPr>
              <a:t>- Pandas and NumPy</a:t>
            </a:r>
          </a:p>
          <a:p>
            <a:pPr algn="l">
              <a:lnSpc>
                <a:spcPct val="105000"/>
              </a:lnSpc>
              <a:spcAft>
                <a:spcPts val="500"/>
              </a:spcAft>
            </a:pPr>
            <a:r>
              <a:rPr sz="1600" b="0">
                <a:solidFill>
                  <a:srgbClr val="232B35"/>
                </a:solidFill>
                <a:latin typeface="+mn-lt"/>
              </a:rPr>
              <a:t>- SciPy and scikit-learn</a:t>
            </a:r>
          </a:p>
          <a:p>
            <a:pPr algn="l">
              <a:lnSpc>
                <a:spcPct val="105000"/>
              </a:lnSpc>
              <a:spcAft>
                <a:spcPts val="500"/>
              </a:spcAft>
            </a:pPr>
            <a:r>
              <a:rPr sz="1600" b="0">
                <a:solidFill>
                  <a:srgbClr val="232B35"/>
                </a:solidFill>
                <a:latin typeface="+mn-lt"/>
              </a:rPr>
              <a:t>- Plotly</a:t>
            </a:r>
          </a:p>
          <a:p>
            <a:pPr algn="l">
              <a:lnSpc>
                <a:spcPct val="105000"/>
              </a:lnSpc>
              <a:spcAft>
                <a:spcPts val="500"/>
              </a:spcAft>
            </a:pPr>
            <a:r>
              <a:rPr sz="1600" b="0">
                <a:solidFill>
                  <a:srgbClr val="232B35"/>
                </a:solidFill>
                <a:latin typeface="+mn-lt"/>
              </a:rPr>
              <a:t>- Streamlit</a:t>
            </a:r>
          </a:p>
          <a:p>
            <a:pPr algn="l">
              <a:lnSpc>
                <a:spcPct val="105000"/>
              </a:lnSpc>
              <a:spcAft>
                <a:spcPts val="500"/>
              </a:spcAft>
            </a:pPr>
            <a:r>
              <a:rPr sz="1600" b="0">
                <a:solidFill>
                  <a:srgbClr val="232B35"/>
                </a:solidFill>
                <a:latin typeface="+mn-lt"/>
              </a:rPr>
              <a:t>- joblib</a:t>
            </a:r>
          </a:p>
          <a:p>
            <a:pPr algn="l">
              <a:lnSpc>
                <a:spcPct val="105000"/>
              </a:lnSpc>
              <a:spcAft>
                <a:spcPts val="500"/>
              </a:spcAft>
            </a:pPr>
            <a:r>
              <a:rPr sz="1600" b="0">
                <a:solidFill>
                  <a:srgbClr val="232B35"/>
                </a:solidFill>
                <a:latin typeface="+mn-lt"/>
              </a:rPr>
              <a:t>- Modern web browser</a:t>
            </a:r>
          </a:p>
          <a:p>
            <a:pPr algn="l">
              <a:lnSpc>
                <a:spcPct val="105000"/>
              </a:lnSpc>
              <a:spcAft>
                <a:spcPts val="500"/>
              </a:spcAft>
            </a:pPr>
            <a:endParaRPr sz="1600" b="0">
              <a:solidFill>
                <a:srgbClr val="232B35"/>
              </a:solidFill>
              <a:latin typeface="+mn-lt"/>
            </a:endParaRPr>
          </a:p>
          <a:p>
            <a:pPr algn="l">
              <a:lnSpc>
                <a:spcPct val="105000"/>
              </a:lnSpc>
              <a:spcAft>
                <a:spcPts val="500"/>
              </a:spcAft>
            </a:pPr>
            <a:r>
              <a:rPr sz="1600" b="0">
                <a:solidFill>
                  <a:srgbClr val="232B35"/>
                </a:solidFill>
                <a:latin typeface="+mn-lt"/>
              </a:rPr>
              <a:t>Run: streamlit run app.py</a:t>
            </a:r>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Project Content"/>
          <p:cNvSpPr txBox="1"/>
          <p:nvPr/>
        </p:nvSpPr>
        <p:spPr>
          <a:xfrm>
            <a:off x="777240" y="1005840"/>
            <a:ext cx="10652760" cy="502920"/>
          </a:xfrm>
          <a:prstGeom prst="rect">
            <a:avLst/>
          </a:prstGeom>
          <a:noFill/>
        </p:spPr>
        <p:txBody>
          <a:bodyPr wrap="square" lIns="128016" tIns="73152" rIns="128016" bIns="73152" anchor="t">
            <a:spAutoFit/>
          </a:bodyPr>
          <a:lstStyle/>
          <a:p>
            <a:pPr algn="ctr">
              <a:lnSpc>
                <a:spcPct val="105000"/>
              </a:lnSpc>
              <a:spcAft>
                <a:spcPts val="500"/>
              </a:spcAft>
            </a:pPr>
            <a:r>
              <a:rPr sz="2100" b="1">
                <a:solidFill>
                  <a:srgbClr val="44546A"/>
                </a:solidFill>
                <a:latin typeface="+mn-lt"/>
              </a:rPr>
              <a:t>A complete analytics lifecycle delivered in one interactive application</a:t>
            </a:r>
          </a:p>
        </p:txBody>
      </p:sp>
      <p:sp>
        <p:nvSpPr>
          <p:cNvPr id="5" name="Project Card"/>
          <p:cNvSpPr/>
          <p:nvPr/>
        </p:nvSpPr>
        <p:spPr>
          <a:xfrm>
            <a:off x="731520" y="1783080"/>
            <a:ext cx="5212080" cy="148132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ject Accent"/>
          <p:cNvSpPr/>
          <p:nvPr/>
        </p:nvSpPr>
        <p:spPr>
          <a:xfrm>
            <a:off x="731520" y="1783080"/>
            <a:ext cx="73152" cy="148132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ject Content"/>
          <p:cNvSpPr txBox="1"/>
          <p:nvPr/>
        </p:nvSpPr>
        <p:spPr>
          <a:xfrm>
            <a:off x="932688" y="1901952"/>
            <a:ext cx="486460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DATA</a:t>
            </a:r>
          </a:p>
        </p:txBody>
      </p:sp>
      <p:sp>
        <p:nvSpPr>
          <p:cNvPr id="8" name="Project Content"/>
          <p:cNvSpPr txBox="1"/>
          <p:nvPr/>
        </p:nvSpPr>
        <p:spPr>
          <a:xfrm>
            <a:off x="932688" y="2295144"/>
            <a:ext cx="4864608" cy="85953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A repeatable pipeline cleans raw events and engineers analysis-ready features.</a:t>
            </a:r>
          </a:p>
        </p:txBody>
      </p:sp>
      <p:sp>
        <p:nvSpPr>
          <p:cNvPr id="9" name="Project Card"/>
          <p:cNvSpPr/>
          <p:nvPr/>
        </p:nvSpPr>
        <p:spPr>
          <a:xfrm>
            <a:off x="6400800" y="1783080"/>
            <a:ext cx="5212080" cy="148132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oject Accent"/>
          <p:cNvSpPr/>
          <p:nvPr/>
        </p:nvSpPr>
        <p:spPr>
          <a:xfrm>
            <a:off x="6400800" y="1783080"/>
            <a:ext cx="73152" cy="148132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ject Content"/>
          <p:cNvSpPr txBox="1"/>
          <p:nvPr/>
        </p:nvSpPr>
        <p:spPr>
          <a:xfrm>
            <a:off x="6601968" y="1901952"/>
            <a:ext cx="486460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INSIGHT</a:t>
            </a:r>
          </a:p>
        </p:txBody>
      </p:sp>
      <p:sp>
        <p:nvSpPr>
          <p:cNvPr id="12" name="Project Content"/>
          <p:cNvSpPr txBox="1"/>
          <p:nvPr/>
        </p:nvSpPr>
        <p:spPr>
          <a:xfrm>
            <a:off x="6601968" y="2295144"/>
            <a:ext cx="4864608" cy="85953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KPIs and visualisations reveal sales trends, customer value and product performance.</a:t>
            </a:r>
          </a:p>
        </p:txBody>
      </p:sp>
      <p:sp>
        <p:nvSpPr>
          <p:cNvPr id="13" name="Project Card"/>
          <p:cNvSpPr/>
          <p:nvPr/>
        </p:nvSpPr>
        <p:spPr>
          <a:xfrm>
            <a:off x="731520" y="3657600"/>
            <a:ext cx="5212080" cy="148132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Accent"/>
          <p:cNvSpPr/>
          <p:nvPr/>
        </p:nvSpPr>
        <p:spPr>
          <a:xfrm>
            <a:off x="731520" y="3657600"/>
            <a:ext cx="73152" cy="14813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Content"/>
          <p:cNvSpPr txBox="1"/>
          <p:nvPr/>
        </p:nvSpPr>
        <p:spPr>
          <a:xfrm>
            <a:off x="932688" y="3776472"/>
            <a:ext cx="486460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70AD47"/>
                </a:solidFill>
                <a:latin typeface="+mn-lt"/>
              </a:rPr>
              <a:t>EVIDENCE</a:t>
            </a:r>
          </a:p>
        </p:txBody>
      </p:sp>
      <p:sp>
        <p:nvSpPr>
          <p:cNvPr id="16" name="Project Content"/>
          <p:cNvSpPr txBox="1"/>
          <p:nvPr/>
        </p:nvSpPr>
        <p:spPr>
          <a:xfrm>
            <a:off x="932688" y="4169664"/>
            <a:ext cx="4864608" cy="85953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Probability, confidence intervals and hypothesis tests support defensible conclusions.</a:t>
            </a:r>
          </a:p>
        </p:txBody>
      </p:sp>
      <p:sp>
        <p:nvSpPr>
          <p:cNvPr id="17" name="Project Card"/>
          <p:cNvSpPr/>
          <p:nvPr/>
        </p:nvSpPr>
        <p:spPr>
          <a:xfrm>
            <a:off x="6400800" y="3657600"/>
            <a:ext cx="5212080" cy="148132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oject Accent"/>
          <p:cNvSpPr/>
          <p:nvPr/>
        </p:nvSpPr>
        <p:spPr>
          <a:xfrm>
            <a:off x="6400800" y="3657600"/>
            <a:ext cx="73152" cy="1481328"/>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roject Content"/>
          <p:cNvSpPr txBox="1"/>
          <p:nvPr/>
        </p:nvSpPr>
        <p:spPr>
          <a:xfrm>
            <a:off x="6601968" y="3776472"/>
            <a:ext cx="4864608"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546A"/>
                </a:solidFill>
                <a:latin typeface="+mn-lt"/>
              </a:rPr>
              <a:t>PREDICTION</a:t>
            </a:r>
          </a:p>
        </p:txBody>
      </p:sp>
      <p:sp>
        <p:nvSpPr>
          <p:cNvPr id="20" name="Project Content"/>
          <p:cNvSpPr txBox="1"/>
          <p:nvPr/>
        </p:nvSpPr>
        <p:spPr>
          <a:xfrm>
            <a:off x="6601968" y="4169664"/>
            <a:ext cx="4864608" cy="85953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Regression and classification demonstrate deployment-ready ML workflows.</a:t>
            </a:r>
          </a:p>
        </p:txBody>
      </p:sp>
      <p:sp>
        <p:nvSpPr>
          <p:cNvPr id="21" name="Project Content"/>
          <p:cNvSpPr txBox="1"/>
          <p:nvPr/>
        </p:nvSpPr>
        <p:spPr>
          <a:xfrm>
            <a:off x="1234440" y="5687568"/>
            <a:ext cx="9738360" cy="320040"/>
          </a:xfrm>
          <a:prstGeom prst="rect">
            <a:avLst/>
          </a:prstGeom>
          <a:noFill/>
        </p:spPr>
        <p:txBody>
          <a:bodyPr wrap="square" lIns="128016" tIns="73152" rIns="128016" bIns="73152" anchor="t">
            <a:spAutoFit/>
          </a:bodyPr>
          <a:lstStyle/>
          <a:p>
            <a:pPr algn="ctr">
              <a:lnSpc>
                <a:spcPct val="105000"/>
              </a:lnSpc>
              <a:spcAft>
                <a:spcPts val="500"/>
              </a:spcAft>
            </a:pPr>
            <a:r>
              <a:rPr sz="1300" b="0">
                <a:solidFill>
                  <a:srgbClr val="5F6976"/>
                </a:solidFill>
                <a:latin typeface="+mn-lt"/>
              </a:rPr>
              <a:t>Key lesson: sound methodology cannot replace meaningful data; weak AUC is an honest signal to improve data quality, not to overstate model performance.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Project Card"/>
          <p:cNvSpPr/>
          <p:nvPr/>
        </p:nvSpPr>
        <p:spPr>
          <a:xfrm>
            <a:off x="640080" y="118872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roject Accent"/>
          <p:cNvSpPr/>
          <p:nvPr/>
        </p:nvSpPr>
        <p:spPr>
          <a:xfrm>
            <a:off x="640080" y="1188720"/>
            <a:ext cx="73152" cy="16642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roject Content"/>
          <p:cNvSpPr txBox="1"/>
          <p:nvPr/>
        </p:nvSpPr>
        <p:spPr>
          <a:xfrm>
            <a:off x="841247" y="130759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REAL DATA</a:t>
            </a:r>
          </a:p>
        </p:txBody>
      </p:sp>
      <p:sp>
        <p:nvSpPr>
          <p:cNvPr id="8" name="Project Content"/>
          <p:cNvSpPr txBox="1"/>
          <p:nvPr/>
        </p:nvSpPr>
        <p:spPr>
          <a:xfrm>
            <a:off x="841247" y="170078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Use the full Kaggle event history</a:t>
            </a:r>
          </a:p>
        </p:txBody>
      </p:sp>
      <p:sp>
        <p:nvSpPr>
          <p:cNvPr id="9" name="Project Card"/>
          <p:cNvSpPr/>
          <p:nvPr/>
        </p:nvSpPr>
        <p:spPr>
          <a:xfrm>
            <a:off x="4498848" y="118872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roject Accent"/>
          <p:cNvSpPr/>
          <p:nvPr/>
        </p:nvSpPr>
        <p:spPr>
          <a:xfrm>
            <a:off x="4498848" y="1188720"/>
            <a:ext cx="73152" cy="1664208"/>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roject Content"/>
          <p:cNvSpPr txBox="1"/>
          <p:nvPr/>
        </p:nvSpPr>
        <p:spPr>
          <a:xfrm>
            <a:off x="4700016" y="130759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ED7D31"/>
                </a:solidFill>
                <a:latin typeface="+mn-lt"/>
              </a:rPr>
              <a:t>COHORTS</a:t>
            </a:r>
          </a:p>
        </p:txBody>
      </p:sp>
      <p:sp>
        <p:nvSpPr>
          <p:cNvPr id="12" name="Project Content"/>
          <p:cNvSpPr txBox="1"/>
          <p:nvPr/>
        </p:nvSpPr>
        <p:spPr>
          <a:xfrm>
            <a:off x="4700016" y="170078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Add retention and repeat-purchase analysis</a:t>
            </a:r>
          </a:p>
        </p:txBody>
      </p:sp>
      <p:sp>
        <p:nvSpPr>
          <p:cNvPr id="13" name="Project Card"/>
          <p:cNvSpPr/>
          <p:nvPr/>
        </p:nvSpPr>
        <p:spPr>
          <a:xfrm>
            <a:off x="8357615" y="118872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roject Accent"/>
          <p:cNvSpPr/>
          <p:nvPr/>
        </p:nvSpPr>
        <p:spPr>
          <a:xfrm>
            <a:off x="8357615" y="1188720"/>
            <a:ext cx="73152" cy="166420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ject Content"/>
          <p:cNvSpPr txBox="1"/>
          <p:nvPr/>
        </p:nvSpPr>
        <p:spPr>
          <a:xfrm>
            <a:off x="8558784" y="130759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70AD47"/>
                </a:solidFill>
                <a:latin typeface="+mn-lt"/>
              </a:rPr>
              <a:t>BASKETS</a:t>
            </a:r>
          </a:p>
        </p:txBody>
      </p:sp>
      <p:sp>
        <p:nvSpPr>
          <p:cNvPr id="16" name="Project Content"/>
          <p:cNvSpPr txBox="1"/>
          <p:nvPr/>
        </p:nvSpPr>
        <p:spPr>
          <a:xfrm>
            <a:off x="8558784" y="170078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Discover products frequently bought together</a:t>
            </a:r>
          </a:p>
        </p:txBody>
      </p:sp>
      <p:sp>
        <p:nvSpPr>
          <p:cNvPr id="17" name="Project Card"/>
          <p:cNvSpPr/>
          <p:nvPr/>
        </p:nvSpPr>
        <p:spPr>
          <a:xfrm>
            <a:off x="640080" y="342900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roject Accent"/>
          <p:cNvSpPr/>
          <p:nvPr/>
        </p:nvSpPr>
        <p:spPr>
          <a:xfrm>
            <a:off x="640080" y="3429000"/>
            <a:ext cx="73152" cy="1664208"/>
          </a:xfrm>
          <a:prstGeom prst="rect">
            <a:avLst/>
          </a:prstGeom>
          <a:solidFill>
            <a:srgbClr val="4454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roject Content"/>
          <p:cNvSpPr txBox="1"/>
          <p:nvPr/>
        </p:nvSpPr>
        <p:spPr>
          <a:xfrm>
            <a:off x="841247" y="354787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546A"/>
                </a:solidFill>
                <a:latin typeface="+mn-lt"/>
              </a:rPr>
              <a:t>MODELS</a:t>
            </a:r>
          </a:p>
        </p:txBody>
      </p:sp>
      <p:sp>
        <p:nvSpPr>
          <p:cNvPr id="20" name="Project Content"/>
          <p:cNvSpPr txBox="1"/>
          <p:nvPr/>
        </p:nvSpPr>
        <p:spPr>
          <a:xfrm>
            <a:off x="841247" y="394106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Evaluate XGBoost and calibrated classifiers</a:t>
            </a:r>
          </a:p>
        </p:txBody>
      </p:sp>
      <p:sp>
        <p:nvSpPr>
          <p:cNvPr id="21" name="Project Card"/>
          <p:cNvSpPr/>
          <p:nvPr/>
        </p:nvSpPr>
        <p:spPr>
          <a:xfrm>
            <a:off x="4498848" y="342900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roject Accent"/>
          <p:cNvSpPr/>
          <p:nvPr/>
        </p:nvSpPr>
        <p:spPr>
          <a:xfrm>
            <a:off x="4498848" y="3429000"/>
            <a:ext cx="73152" cy="166420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roject Content"/>
          <p:cNvSpPr txBox="1"/>
          <p:nvPr/>
        </p:nvSpPr>
        <p:spPr>
          <a:xfrm>
            <a:off x="4700016" y="354787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FFC000"/>
                </a:solidFill>
                <a:latin typeface="+mn-lt"/>
              </a:rPr>
              <a:t>LIVE PIPELINE</a:t>
            </a:r>
          </a:p>
        </p:txBody>
      </p:sp>
      <p:sp>
        <p:nvSpPr>
          <p:cNvPr id="24" name="Project Content"/>
          <p:cNvSpPr txBox="1"/>
          <p:nvPr/>
        </p:nvSpPr>
        <p:spPr>
          <a:xfrm>
            <a:off x="4700016" y="394106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Stream events through an API or Kafka</a:t>
            </a:r>
          </a:p>
        </p:txBody>
      </p:sp>
      <p:sp>
        <p:nvSpPr>
          <p:cNvPr id="25" name="Project Card"/>
          <p:cNvSpPr/>
          <p:nvPr/>
        </p:nvSpPr>
        <p:spPr>
          <a:xfrm>
            <a:off x="8357615" y="3429000"/>
            <a:ext cx="3493008" cy="1664208"/>
          </a:xfrm>
          <a:prstGeom prst="roundRect">
            <a:avLst/>
          </a:prstGeom>
          <a:solidFill>
            <a:srgbClr val="FFFFFF"/>
          </a:solidFill>
          <a:ln w="12700">
            <a:solidFill>
              <a:srgbClr val="D6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roject Accent"/>
          <p:cNvSpPr/>
          <p:nvPr/>
        </p:nvSpPr>
        <p:spPr>
          <a:xfrm>
            <a:off x="8357615" y="3429000"/>
            <a:ext cx="73152" cy="1664208"/>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Project Content"/>
          <p:cNvSpPr txBox="1"/>
          <p:nvPr/>
        </p:nvSpPr>
        <p:spPr>
          <a:xfrm>
            <a:off x="8558784" y="3547872"/>
            <a:ext cx="3145536" cy="347472"/>
          </a:xfrm>
          <a:prstGeom prst="rect">
            <a:avLst/>
          </a:prstGeom>
          <a:noFill/>
        </p:spPr>
        <p:txBody>
          <a:bodyPr wrap="square" lIns="128016" tIns="73152" rIns="128016" bIns="73152" anchor="t">
            <a:spAutoFit/>
          </a:bodyPr>
          <a:lstStyle/>
          <a:p>
            <a:pPr algn="l">
              <a:lnSpc>
                <a:spcPct val="105000"/>
              </a:lnSpc>
              <a:spcAft>
                <a:spcPts val="500"/>
              </a:spcAft>
            </a:pPr>
            <a:r>
              <a:rPr sz="1700" b="1">
                <a:solidFill>
                  <a:srgbClr val="4472C4"/>
                </a:solidFill>
                <a:latin typeface="+mn-lt"/>
              </a:rPr>
              <a:t>DEPLOYMENT</a:t>
            </a:r>
          </a:p>
        </p:txBody>
      </p:sp>
      <p:sp>
        <p:nvSpPr>
          <p:cNvPr id="28" name="Project Content"/>
          <p:cNvSpPr txBox="1"/>
          <p:nvPr/>
        </p:nvSpPr>
        <p:spPr>
          <a:xfrm>
            <a:off x="8558784" y="3941064"/>
            <a:ext cx="3145536" cy="1042416"/>
          </a:xfrm>
          <a:prstGeom prst="rect">
            <a:avLst/>
          </a:prstGeom>
          <a:noFill/>
        </p:spPr>
        <p:txBody>
          <a:bodyPr wrap="square" lIns="128016" tIns="73152" rIns="128016" bIns="73152" anchor="t">
            <a:spAutoFit/>
          </a:bodyPr>
          <a:lstStyle/>
          <a:p>
            <a:pPr algn="l">
              <a:lnSpc>
                <a:spcPct val="105000"/>
              </a:lnSpc>
              <a:spcAft>
                <a:spcPts val="500"/>
              </a:spcAft>
            </a:pPr>
            <a:r>
              <a:rPr sz="1400" b="0">
                <a:solidFill>
                  <a:srgbClr val="232B35"/>
                </a:solidFill>
                <a:latin typeface="+mn-lt"/>
              </a:rPr>
              <a:t>Add authentication, monitoring and PDF export</a:t>
            </a:r>
          </a:p>
        </p:txBody>
      </p:sp>
      <p:sp>
        <p:nvSpPr>
          <p:cNvPr id="29" name="Project Content"/>
          <p:cNvSpPr txBox="1"/>
          <p:nvPr/>
        </p:nvSpPr>
        <p:spPr>
          <a:xfrm>
            <a:off x="1051560" y="5733288"/>
            <a:ext cx="10104120" cy="320040"/>
          </a:xfrm>
          <a:prstGeom prst="rect">
            <a:avLst/>
          </a:prstGeom>
          <a:noFill/>
        </p:spPr>
        <p:txBody>
          <a:bodyPr wrap="square" lIns="128016" tIns="73152" rIns="128016" bIns="73152" anchor="t">
            <a:spAutoFit/>
          </a:bodyPr>
          <a:lstStyle/>
          <a:p>
            <a:pPr algn="ctr">
              <a:lnSpc>
                <a:spcPct val="105000"/>
              </a:lnSpc>
              <a:spcAft>
                <a:spcPts val="500"/>
              </a:spcAft>
            </a:pPr>
            <a:r>
              <a:rPr sz="1300" b="0">
                <a:solidFill>
                  <a:srgbClr val="5F6976"/>
                </a:solidFill>
                <a:latin typeface="+mn-lt"/>
              </a:rPr>
              <a:t>Priority: replace synthetic event generation with longitudinal customer sessions to create genuine predictive signal.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706</Words>
  <Application>Microsoft Macintosh PowerPoint</Application>
  <PresentationFormat>Widescreen</PresentationFormat>
  <Paragraphs>155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MACHINE LEARNING  (25SC2107E)   Retail Sales Analytics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DUDDUKURI BALA CHARAN</cp:lastModifiedBy>
  <cp:revision>24</cp:revision>
  <dcterms:created xsi:type="dcterms:W3CDTF">2024-08-29T05:25:00Z</dcterms:created>
  <dcterms:modified xsi:type="dcterms:W3CDTF">2026-09-21T03:56:09Z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